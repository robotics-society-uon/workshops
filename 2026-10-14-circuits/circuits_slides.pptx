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5" r:id="rId2"/>
    <p:sldMasterId id="2147483657" r:id="rId3"/>
    <p:sldMasterId id="2147483658" r:id="rId4"/>
    <p:sldMasterId id="2147483659" r:id="rId5"/>
  </p:sldMasterIdLst>
  <p:notesMasterIdLst>
    <p:notesMasterId r:id="rId17"/>
  </p:notesMasterIdLst>
  <p:sldIdLst>
    <p:sldId id="256" r:id="rId6"/>
    <p:sldId id="257" r:id="rId7"/>
    <p:sldId id="258" r:id="rId8"/>
    <p:sldId id="259" r:id="rId9"/>
    <p:sldId id="260" r:id="rId10"/>
    <p:sldId id="263" r:id="rId11"/>
    <p:sldId id="264" r:id="rId12"/>
    <p:sldId id="265" r:id="rId13"/>
    <p:sldId id="266" r:id="rId14"/>
    <p:sldId id="261" r:id="rId15"/>
    <p:sldId id="262"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95"/>
  </p:normalViewPr>
  <p:slideViewPr>
    <p:cSldViewPr snapToGrid="0">
      <p:cViewPr varScale="1">
        <p:scale>
          <a:sx n="113" d="100"/>
          <a:sy n="113" d="100"/>
        </p:scale>
        <p:origin x="712"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presProps" Target="presProps.xml"/><Relationship Id="rId3" Type="http://schemas.openxmlformats.org/officeDocument/2006/relationships/slideMaster" Target="slideMasters/slideMaster3.xml"/><Relationship Id="rId21" Type="http://schemas.openxmlformats.org/officeDocument/2006/relationships/tableStyles" Target="tableStyles.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1.xml"/><Relationship Id="rId11" Type="http://schemas.openxmlformats.org/officeDocument/2006/relationships/slide" Target="slides/slide6.xml"/><Relationship Id="rId5" Type="http://schemas.openxmlformats.org/officeDocument/2006/relationships/slideMaster" Target="slideMasters/slideMaster5.xml"/><Relationship Id="rId15" Type="http://schemas.openxmlformats.org/officeDocument/2006/relationships/slide" Target="slides/slide10.xml"/><Relationship Id="rId10" Type="http://schemas.openxmlformats.org/officeDocument/2006/relationships/slide" Target="slides/slide5.xml"/><Relationship Id="rId19" Type="http://schemas.openxmlformats.org/officeDocument/2006/relationships/viewProps" Target="viewProps.xml"/><Relationship Id="rId4" Type="http://schemas.openxmlformats.org/officeDocument/2006/relationships/slideMaster" Target="slideMasters/slideMaster4.xml"/><Relationship Id="rId9" Type="http://schemas.openxmlformats.org/officeDocument/2006/relationships/slide" Target="slides/slide4.xml"/><Relationship Id="rId14"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Power rails run along the edges. Stock photograph: SparkFun Breadboard Full-Size (Bare), https://www.sparkfun.com/breadboard-full-size-bare.html. Image: https://www.sparkfun.com/media/catalog/product/1/2/12615-01.jpg. Power rails on this stock board are split halfway along each edge. Background facts: https://learn.sparkfun.com/tutorials/how-to-use-a-breadboard/all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Stock photograph of a 330 ohm resistor: https://www.sparkfun.com/resistor-330-ohm-1-6th-watt-pth.html. Image: https://www.sparkfun.com/media/catalog/product/0/8/08377-02-L.jpg. The 330 Ω label refers to the stock image. The original physical resistor photo is retained below. Photo crop from user-provided 6511da4d-988a-425b-80e9-baec1281ec09.jpeg. Facts: https://learn.sparkfun.com/tutorials/activity-guide-for-sparkfun-tinker-kit/all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LED polarity applies to the LED, not the push button. For a four-leg tactile button, two pairs of pins are already connected internally. Pressing joins the pairs. Component crops: user-provided pushbutton1.png. Facts: https://learn.sparkfun.com/tutorials/how-to-use-a-breadboard/all and https://learn.sparkfun.com/tutorials/experiment-guide-for-the-sparkfun-tinker-kit/all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Images: user-provided basicled.png and 1e0b2a93-538f-49cb-8971-525cd170d08f.jpeg. The examples use different board layouts and LED colours. Follow the electrical connections, rather than matching row numbers.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Images: user-provided pushbutton1.png and still at 4.5 seconds from WhatsApp Video 2026-10-14 at 10.47.02 AM.mp4. The photo demonstrates the button pressed and LED on. Physical wiring layout differs from Tinkercad.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Easy to medium challenge. Tinkercad copy: https://www.tinkercad.com/things/brJz0i0xYnO/editel. Deliberate fault: the jumper’s right endpoint is h21 rather than h20. Resistor bottom is j20. LED anode is j16. Tinkercad simulation confirms LED off. Moving endpoint h21 to h20 produces a closed forward-biased LED circuit and lights the red LED. Fault restored after verification. Image is a real screenshot taken in Chrome.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Close-up of the actual incorrect endpoint and resistor, zoomed inside Tinkercad rather than enlarged from the whole-board screenshot. Both numbered strips 20 and 21 are visible. Exact verified repair: h21 to h20. Source: https://www.tinkercad.com/things/brJz0i0xYnO/editel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Medium challenge. Tinkercad copy: https://www.tinkercad.com/things/fKnmIe9Yus7/editel. The 1 kΩ resistor correctly spans the positive rail and j20. A separate diagonal green wire links positive rail hole 22 directly to g20. This wire bypasses the resistor because g20, h20 and j20 share a five-hole strip. Tinkercad simulation reports 915 mA through the red LED against an absolute maximum of 20 mA. Deleting only the diagonal wire lights the LED normally, without an overcurrent warning. Fault restored after verification. Real Chrome screenshot.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Close-up shows the resistor, + rail, and diagonal bypass wire. Exact verified repair: delete that wire, leaving the resistor and horizontal jumper in place. Source: https://www.tinkercad.com/things/fKnmIe9Yus7/editel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Native PNG exported from Tinkercad. https://www.tinkercad.com/things/kG1GKlNPrqx-two-player-reaction-game</a:t>
            </a:r>
          </a:p>
          <a:p>
            <a:r>
              <a:t>9 V battery with a separate 1 kΩ current-limiting resistor per LED. Human-judged game without electronic timing. Player 1 is green, Player 2 is red. Simulation: Shift-click holds a button, ordinary click releases it. Both designs verified in all four input combinations. Physical build photos have not been supplied.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Native PNG exported from Tinkercad. https://www.tinkercad.com/things/7yrdJV1H6zt-circuit-logic-and-and-or</a:t>
            </a:r>
          </a:p>
          <a:p>
            <a:r>
              <a:t>9 V battery with a separate 1 kΩ current-limiting resistor per LED. Green LED: AND with two switches in series. Red LED: OR with two switches in parallel. Simulation: Shift-click holds a button, ordinary click releases it. Both designs verified in all four input combinations. Physical build photos have not been supplied.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56463B34-1514-4DBD-BF4F-82559443A4B1}"/>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a:endParaRPr/>
          </a:p>
        </p:txBody>
      </p:sp>
      <p:sp>
        <p:nvSpPr>
          <p:cNvPr id="2" name="Subtitle">
            <a:extLst>
              <a:ext uri="{FF2B5EF4-FFF2-40B4-BE49-F238E27FC236}">
                <a16:creationId xmlns:a16="http://schemas.microsoft.com/office/drawing/2014/main" id="{2BEF9789-DF5D-4A61-8E9D-D2373DEAB3E7}"/>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F8417D93-EBF5-404F-A891-45432F0005AE}"/>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20A75BBF-5D25-41B3-946A-308C2A064785}"/>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a:endParaRPr/>
          </a:p>
        </p:txBody>
      </p:sp>
      <p:sp>
        <p:nvSpPr>
          <p:cNvPr id="2" name="Body">
            <a:extLst>
              <a:ext uri="{FF2B5EF4-FFF2-40B4-BE49-F238E27FC236}">
                <a16:creationId xmlns:a16="http://schemas.microsoft.com/office/drawing/2014/main" id="{B15BEB7F-3530-4D0D-90B5-F71F4F45158C}"/>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BAC0AF81-ACBE-4629-8C48-BFCC0576E74A}"/>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a:endParaRPr/>
          </a:p>
        </p:txBody>
      </p:sp>
      <p:sp>
        <p:nvSpPr>
          <p:cNvPr id="2" name="Left column">
            <a:extLst>
              <a:ext uri="{FF2B5EF4-FFF2-40B4-BE49-F238E27FC236}">
                <a16:creationId xmlns:a16="http://schemas.microsoft.com/office/drawing/2014/main" id="{F73F97DF-9086-41AA-98A2-47961E9506F5}"/>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a:endParaRPr/>
          </a:p>
        </p:txBody>
      </p:sp>
      <p:sp>
        <p:nvSpPr>
          <p:cNvPr id="3" name="Right column">
            <a:extLst>
              <a:ext uri="{FF2B5EF4-FFF2-40B4-BE49-F238E27FC236}">
                <a16:creationId xmlns:a16="http://schemas.microsoft.com/office/drawing/2014/main" id="{E415FF5E-BF28-460D-8EE1-2EEF5942B544}"/>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3FDA9147-1384-47BF-B19C-05EE634B8CA7}"/>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a:endParaRPr/>
          </a:p>
        </p:txBody>
      </p:sp>
      <p:sp>
        <p:nvSpPr>
          <p:cNvPr id="2" name="Left column">
            <a:extLst>
              <a:ext uri="{FF2B5EF4-FFF2-40B4-BE49-F238E27FC236}">
                <a16:creationId xmlns:a16="http://schemas.microsoft.com/office/drawing/2014/main" id="{BEB9BF67-B58D-437E-B28D-7E6FF73C4191}"/>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8.xml"/></Relationships>
</file>

<file path=ppt/slideMasters/_rels/slideMaster3.xml.rels><?xml version="1.0" encoding="UTF-8" standalone="yes"?>
<Relationships xmlns="http://schemas.openxmlformats.org/package/2006/relationships"><Relationship Id="rId1"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theme" Target="../theme/them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60" r:id="rId7"/>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6"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6.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7.jpe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9.jpeg"/></Relationships>
</file>

<file path=ppt/slides/_rels/slide6.xml.rels><?xml version="1.0" encoding="UTF-8" standalone="yes"?>
<Relationships xmlns="http://schemas.openxmlformats.org/package/2006/relationships"><Relationship Id="rId3" Type="http://schemas.openxmlformats.org/officeDocument/2006/relationships/hyperlink" Target="https://www.tinkercad.com/things/brJz0i0xYnO/editel" TargetMode="External"/><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0.jpeg"/></Relationships>
</file>

<file path=ppt/slides/_rels/slide7.xml.rels><?xml version="1.0" encoding="UTF-8" standalone="yes"?>
<Relationships xmlns="http://schemas.openxmlformats.org/package/2006/relationships"><Relationship Id="rId3" Type="http://schemas.openxmlformats.org/officeDocument/2006/relationships/hyperlink" Target="https://www.tinkercad.com/things/brJz0i0xYnO/editel" TargetMode="External"/><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11.jpeg"/></Relationships>
</file>

<file path=ppt/slides/_rels/slide8.xml.rels><?xml version="1.0" encoding="UTF-8" standalone="yes"?>
<Relationships xmlns="http://schemas.openxmlformats.org/package/2006/relationships"><Relationship Id="rId3" Type="http://schemas.openxmlformats.org/officeDocument/2006/relationships/hyperlink" Target="https://www.tinkercad.com/things/fKnmIe9Yus7/editel" TargetMode="External"/><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2.jpeg"/></Relationships>
</file>

<file path=ppt/slides/_rels/slide9.xml.rels><?xml version="1.0" encoding="UTF-8" standalone="yes"?>
<Relationships xmlns="http://schemas.openxmlformats.org/package/2006/relationships"><Relationship Id="rId3" Type="http://schemas.openxmlformats.org/officeDocument/2006/relationships/hyperlink" Target="https://www.tinkercad.com/things/fKnmIe9Yus7/editel" TargetMode="External"/><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3.jpe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6.xml"/><Relationship Id="rId4" Type="http://schemas.openxmlformats.org/officeDocument/2006/relationships/hyperlink" Target="https://www.tinkercad.com/things/kG1GKlNPrqx-two-player-reaction-game"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6.xml"/><Relationship Id="rId4" Type="http://schemas.openxmlformats.org/officeDocument/2006/relationships/hyperlink" Target="https://www.tinkercad.com/things/7yrdJV1H6zt-circuit-logic-and-and-or"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9B26C85-07D0-442C-B673-5CE0BB3A5B48}"/>
              </a:ext>
            </a:extLst>
          </p:cNvPr>
          <p:cNvSpPr>
            <a:spLocks noGrp="1"/>
          </p:cNvSpPr>
          <p:nvPr/>
        </p:nvSpPr>
        <p:spPr>
          <a:xfrm>
            <a:off x="609600" y="476250"/>
            <a:ext cx="10668000" cy="666750"/>
          </a:xfrm>
          <a:prstGeom prst="rect">
            <a:avLst/>
          </a:prstGeom>
          <a:noFill/>
          <a:ln w="0">
            <a:noFill/>
          </a:ln>
        </p:spPr>
        <p:txBody>
          <a:bodyPr/>
          <a:lstStyle>
            <a:defPPr>
              <a:defRPr sz="3600" b="1">
                <a:solidFill>
                  <a:srgbClr val="26313B"/>
                </a:solidFill>
                <a:latin typeface="Arial"/>
                <a:ea typeface="Arial"/>
                <a:cs typeface="Arial"/>
              </a:defRPr>
            </a:defPPr>
          </a:lstStyle>
          <a:p>
            <a:pPr>
              <a:buNone/>
              <a:defRPr sz="3600" b="1">
                <a:solidFill>
                  <a:srgbClr val="26313B"/>
                </a:solidFill>
                <a:latin typeface="Arial"/>
                <a:ea typeface="Arial"/>
                <a:cs typeface="Arial"/>
              </a:defRPr>
            </a:pPr>
            <a:r>
              <a:rPr sz="3600" b="1">
                <a:solidFill>
                  <a:srgbClr val="26313B"/>
                </a:solidFill>
                <a:latin typeface="Arial"/>
                <a:ea typeface="Arial"/>
                <a:cs typeface="Arial"/>
              </a:rPr>
              <a:t>Breadboard</a:t>
            </a:r>
          </a:p>
        </p:txBody>
      </p:sp>
      <p:sp>
        <p:nvSpPr>
          <p:cNvPr id="2" name="Rectangle 1">
            <a:extLst>
              <a:ext uri="{FF2B5EF4-FFF2-40B4-BE49-F238E27FC236}">
                <a16:creationId xmlns:a16="http://schemas.microsoft.com/office/drawing/2014/main" id="{12021CCE-43AF-40B1-8917-EF45868FAF0C}"/>
              </a:ext>
            </a:extLst>
          </p:cNvPr>
          <p:cNvSpPr>
            <a:spLocks noGrp="1"/>
          </p:cNvSpPr>
          <p:nvPr/>
        </p:nvSpPr>
        <p:spPr>
          <a:xfrm>
            <a:off x="11049000" y="6362700"/>
            <a:ext cx="533400" cy="228600"/>
          </a:xfrm>
          <a:prstGeom prst="rect">
            <a:avLst/>
          </a:prstGeom>
          <a:noFill/>
          <a:ln w="0">
            <a:noFill/>
          </a:ln>
        </p:spPr>
        <p:txBody>
          <a:bodyPr/>
          <a:lstStyle>
            <a:defPPr>
              <a:defRPr sz="1350" b="0">
                <a:solidFill>
                  <a:srgbClr val="73818C"/>
                </a:solidFill>
                <a:latin typeface="Arial"/>
                <a:ea typeface="Arial"/>
                <a:cs typeface="Arial"/>
              </a:defRPr>
            </a:defPPr>
          </a:lstStyle>
          <a:p>
            <a:pPr>
              <a:buNone/>
              <a:defRPr sz="1350" b="0">
                <a:solidFill>
                  <a:srgbClr val="73818C"/>
                </a:solidFill>
                <a:latin typeface="Arial"/>
                <a:ea typeface="Arial"/>
                <a:cs typeface="Arial"/>
              </a:defRPr>
            </a:pPr>
            <a:r>
              <a:rPr sz="1350" b="0">
                <a:solidFill>
                  <a:srgbClr val="73818C"/>
                </a:solidFill>
                <a:latin typeface="Arial"/>
                <a:ea typeface="Arial"/>
                <a:cs typeface="Arial"/>
              </a:rPr>
              <a:t>01</a:t>
            </a:r>
          </a:p>
        </p:txBody>
      </p:sp>
      <p:sp>
        <p:nvSpPr>
          <p:cNvPr id="3" name="Rectangle 2">
            <a:extLst>
              <a:ext uri="{FF2B5EF4-FFF2-40B4-BE49-F238E27FC236}">
                <a16:creationId xmlns:a16="http://schemas.microsoft.com/office/drawing/2014/main" id="{A485DAB5-0566-40DD-AEC7-F76D82566F55}"/>
              </a:ext>
            </a:extLst>
          </p:cNvPr>
          <p:cNvSpPr>
            <a:spLocks noGrp="1"/>
          </p:cNvSpPr>
          <p:nvPr/>
        </p:nvSpPr>
        <p:spPr>
          <a:xfrm>
            <a:off x="609600" y="2095500"/>
            <a:ext cx="4667250" cy="2952750"/>
          </a:xfrm>
          <a:prstGeom prst="rect">
            <a:avLst/>
          </a:prstGeom>
          <a:noFill/>
          <a:ln w="0">
            <a:noFill/>
          </a:ln>
        </p:spPr>
        <p:txBody>
          <a:bodyPr/>
          <a:lstStyle>
            <a:defPPr>
              <a:defRPr sz="2250" b="0">
                <a:solidFill>
                  <a:srgbClr val="26313B"/>
                </a:solidFill>
                <a:latin typeface="Arial"/>
                <a:ea typeface="Arial"/>
                <a:cs typeface="Arial"/>
              </a:defRPr>
            </a:defPPr>
          </a:lstStyle>
          <a:p>
            <a:pPr marL="254000" indent="-152400">
              <a:spcAft>
                <a:spcPts val="1800"/>
              </a:spcAft>
              <a:buChar char="•"/>
              <a:defRPr sz="2250" b="0">
                <a:solidFill>
                  <a:srgbClr val="26313B"/>
                </a:solidFill>
                <a:latin typeface="Arial"/>
                <a:ea typeface="Arial"/>
                <a:cs typeface="Arial"/>
              </a:defRPr>
            </a:pPr>
            <a:r>
              <a:t>Build circuits without soldering</a:t>
            </a:r>
          </a:p>
          <a:p>
            <a:pPr marL="254000" indent="-152400">
              <a:spcAft>
                <a:spcPts val="1800"/>
              </a:spcAft>
              <a:buChar char="•"/>
              <a:defRPr sz="2250" b="0">
                <a:solidFill>
                  <a:srgbClr val="26313B"/>
                </a:solidFill>
                <a:latin typeface="Arial"/>
                <a:ea typeface="Arial"/>
                <a:cs typeface="Arial"/>
              </a:defRPr>
            </a:pPr>
            <a:r>
              <a:t>Each row of 5 holes is connected</a:t>
            </a:r>
          </a:p>
          <a:p>
            <a:pPr marL="254000" indent="-152400">
              <a:spcAft>
                <a:spcPts val="1800"/>
              </a:spcAft>
              <a:buChar char="•"/>
              <a:defRPr sz="2250" b="0">
                <a:solidFill>
                  <a:srgbClr val="26313B"/>
                </a:solidFill>
                <a:latin typeface="Arial"/>
                <a:ea typeface="Arial"/>
                <a:cs typeface="Arial"/>
              </a:defRPr>
            </a:pPr>
            <a:r>
              <a:t>The centre gap separates the sides</a:t>
            </a:r>
          </a:p>
        </p:txBody>
      </p:sp>
      <p:pic>
        <p:nvPicPr>
          <p:cNvPr id="4" name="Picture 3">
            <a:extLst>
              <a:ext uri="{FF2B5EF4-FFF2-40B4-BE49-F238E27FC236}">
                <a16:creationId xmlns:a16="http://schemas.microsoft.com/office/drawing/2014/main" id="{6167008C-D636-4701-84D1-7871026867DB}"/>
              </a:ext>
            </a:extLst>
          </p:cNvPr>
          <p:cNvPicPr>
            <a:picLocks noChangeAspect="1"/>
          </p:cNvPicPr>
          <p:nvPr/>
        </p:nvPicPr>
        <p:blipFill>
          <a:blip r:embed="rId3"/>
          <a:stretch/>
        </p:blipFill>
        <p:spPr>
          <a:xfrm>
            <a:off x="6381750" y="1381125"/>
            <a:ext cx="4572000" cy="4572000"/>
          </a:xfrm>
          <a:prstGeom prst="rect">
            <a:avLst/>
          </a:prstGeom>
        </p:spPr>
      </p:pic>
    </p:spTree>
    <p:extLst>
      <p:ext uri="{BB962C8B-B14F-4D97-AF65-F5344CB8AC3E}">
        <p14:creationId xmlns:p14="http://schemas.microsoft.com/office/powerpoint/2010/main" val="14405715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5A7222D-119B-4A2C-94DC-F8548EA56AF4}"/>
              </a:ext>
            </a:extLst>
          </p:cNvPr>
          <p:cNvSpPr>
            <a:spLocks noGrp="1"/>
          </p:cNvSpPr>
          <p:nvPr/>
        </p:nvSpPr>
        <p:spPr>
          <a:xfrm>
            <a:off x="609600" y="476250"/>
            <a:ext cx="10668000" cy="666750"/>
          </a:xfrm>
          <a:prstGeom prst="rect">
            <a:avLst/>
          </a:prstGeom>
          <a:noFill/>
          <a:ln w="0">
            <a:noFill/>
          </a:ln>
        </p:spPr>
        <p:txBody>
          <a:bodyPr/>
          <a:lstStyle>
            <a:defPPr>
              <a:defRPr sz="3600" b="1">
                <a:solidFill>
                  <a:srgbClr val="26313B"/>
                </a:solidFill>
                <a:latin typeface="Arial"/>
                <a:ea typeface="Arial"/>
                <a:cs typeface="Arial"/>
              </a:defRPr>
            </a:defPPr>
          </a:lstStyle>
          <a:p>
            <a:pPr>
              <a:buNone/>
              <a:defRPr sz="3600" b="1">
                <a:solidFill>
                  <a:srgbClr val="26313B"/>
                </a:solidFill>
                <a:latin typeface="Arial"/>
                <a:ea typeface="Arial"/>
                <a:cs typeface="Arial"/>
              </a:defRPr>
            </a:pPr>
            <a:r>
              <a:rPr sz="3600" b="1">
                <a:solidFill>
                  <a:srgbClr val="26313B"/>
                </a:solidFill>
                <a:latin typeface="Arial"/>
                <a:ea typeface="Arial"/>
                <a:cs typeface="Arial"/>
              </a:rPr>
              <a:t>Resistor</a:t>
            </a:r>
          </a:p>
        </p:txBody>
      </p:sp>
      <p:sp>
        <p:nvSpPr>
          <p:cNvPr id="2" name="Rectangle 1">
            <a:extLst>
              <a:ext uri="{FF2B5EF4-FFF2-40B4-BE49-F238E27FC236}">
                <a16:creationId xmlns:a16="http://schemas.microsoft.com/office/drawing/2014/main" id="{D1B89405-9052-4DDA-9EDB-158C0C2EC81C}"/>
              </a:ext>
            </a:extLst>
          </p:cNvPr>
          <p:cNvSpPr>
            <a:spLocks noGrp="1"/>
          </p:cNvSpPr>
          <p:nvPr/>
        </p:nvSpPr>
        <p:spPr>
          <a:xfrm>
            <a:off x="11049000" y="6362700"/>
            <a:ext cx="533400" cy="228600"/>
          </a:xfrm>
          <a:prstGeom prst="rect">
            <a:avLst/>
          </a:prstGeom>
          <a:noFill/>
          <a:ln w="0">
            <a:noFill/>
          </a:ln>
        </p:spPr>
        <p:txBody>
          <a:bodyPr/>
          <a:lstStyle>
            <a:defPPr>
              <a:defRPr sz="1350" b="0">
                <a:solidFill>
                  <a:srgbClr val="73818C"/>
                </a:solidFill>
                <a:latin typeface="Arial"/>
                <a:ea typeface="Arial"/>
                <a:cs typeface="Arial"/>
              </a:defRPr>
            </a:defPPr>
          </a:lstStyle>
          <a:p>
            <a:pPr>
              <a:buNone/>
              <a:defRPr sz="1350" b="0">
                <a:solidFill>
                  <a:srgbClr val="73818C"/>
                </a:solidFill>
                <a:latin typeface="Arial"/>
                <a:ea typeface="Arial"/>
                <a:cs typeface="Arial"/>
              </a:defRPr>
            </a:pPr>
            <a:r>
              <a:rPr sz="1350" b="0">
                <a:solidFill>
                  <a:srgbClr val="73818C"/>
                </a:solidFill>
                <a:latin typeface="Arial"/>
                <a:ea typeface="Arial"/>
                <a:cs typeface="Arial"/>
              </a:rPr>
              <a:t>02</a:t>
            </a:r>
          </a:p>
        </p:txBody>
      </p:sp>
      <p:sp>
        <p:nvSpPr>
          <p:cNvPr id="3" name="Rectangle 2">
            <a:extLst>
              <a:ext uri="{FF2B5EF4-FFF2-40B4-BE49-F238E27FC236}">
                <a16:creationId xmlns:a16="http://schemas.microsoft.com/office/drawing/2014/main" id="{E760C1B8-E6DA-4370-A6D3-A236B3518E62}"/>
              </a:ext>
            </a:extLst>
          </p:cNvPr>
          <p:cNvSpPr>
            <a:spLocks noGrp="1"/>
          </p:cNvSpPr>
          <p:nvPr/>
        </p:nvSpPr>
        <p:spPr>
          <a:xfrm>
            <a:off x="609600" y="2190750"/>
            <a:ext cx="4572000" cy="2857500"/>
          </a:xfrm>
          <a:prstGeom prst="rect">
            <a:avLst/>
          </a:prstGeom>
          <a:noFill/>
          <a:ln w="0">
            <a:noFill/>
          </a:ln>
        </p:spPr>
        <p:txBody>
          <a:bodyPr/>
          <a:lstStyle>
            <a:defPPr>
              <a:defRPr sz="2250" b="0">
                <a:solidFill>
                  <a:srgbClr val="26313B"/>
                </a:solidFill>
                <a:latin typeface="Arial"/>
                <a:ea typeface="Arial"/>
                <a:cs typeface="Arial"/>
              </a:defRPr>
            </a:defPPr>
          </a:lstStyle>
          <a:p>
            <a:pPr marL="254000" indent="-152400">
              <a:spcAft>
                <a:spcPts val="1800"/>
              </a:spcAft>
              <a:buChar char="•"/>
              <a:defRPr sz="2250" b="0">
                <a:solidFill>
                  <a:srgbClr val="26313B"/>
                </a:solidFill>
                <a:latin typeface="Arial"/>
                <a:ea typeface="Arial"/>
                <a:cs typeface="Arial"/>
              </a:defRPr>
            </a:pPr>
            <a:r>
              <a:t>Limits current</a:t>
            </a:r>
          </a:p>
          <a:p>
            <a:pPr marL="254000" indent="-152400">
              <a:spcAft>
                <a:spcPts val="1800"/>
              </a:spcAft>
              <a:buChar char="•"/>
              <a:defRPr sz="2250" b="0">
                <a:solidFill>
                  <a:srgbClr val="26313B"/>
                </a:solidFill>
                <a:latin typeface="Arial"/>
                <a:ea typeface="Arial"/>
                <a:cs typeface="Arial"/>
              </a:defRPr>
            </a:pPr>
            <a:r>
              <a:t>Protects the LED</a:t>
            </a:r>
          </a:p>
          <a:p>
            <a:pPr marL="254000" indent="-152400">
              <a:spcAft>
                <a:spcPts val="1800"/>
              </a:spcAft>
              <a:buChar char="•"/>
              <a:defRPr sz="2250" b="0">
                <a:solidFill>
                  <a:srgbClr val="26313B"/>
                </a:solidFill>
                <a:latin typeface="Arial"/>
                <a:ea typeface="Arial"/>
                <a:cs typeface="Arial"/>
              </a:defRPr>
            </a:pPr>
            <a:r>
              <a:t>Works either way round</a:t>
            </a:r>
          </a:p>
        </p:txBody>
      </p:sp>
      <p:pic>
        <p:nvPicPr>
          <p:cNvPr id="4" name="Picture 3">
            <a:extLst>
              <a:ext uri="{FF2B5EF4-FFF2-40B4-BE49-F238E27FC236}">
                <a16:creationId xmlns:a16="http://schemas.microsoft.com/office/drawing/2014/main" id="{303BC79E-9971-44B3-8417-C078382AADF0}"/>
              </a:ext>
            </a:extLst>
          </p:cNvPr>
          <p:cNvPicPr>
            <a:picLocks noChangeAspect="1"/>
          </p:cNvPicPr>
          <p:nvPr/>
        </p:nvPicPr>
        <p:blipFill>
          <a:blip r:embed="rId3"/>
          <a:stretch/>
        </p:blipFill>
        <p:spPr>
          <a:xfrm>
            <a:off x="7548563" y="1333500"/>
            <a:ext cx="2238375" cy="2238375"/>
          </a:xfrm>
          <a:prstGeom prst="rect">
            <a:avLst/>
          </a:prstGeom>
        </p:spPr>
      </p:pic>
      <p:sp>
        <p:nvSpPr>
          <p:cNvPr id="5" name="Rectangle 4">
            <a:extLst>
              <a:ext uri="{FF2B5EF4-FFF2-40B4-BE49-F238E27FC236}">
                <a16:creationId xmlns:a16="http://schemas.microsoft.com/office/drawing/2014/main" id="{DE177BBA-1E94-46BF-85FD-71CE03F22C7C}"/>
              </a:ext>
            </a:extLst>
          </p:cNvPr>
          <p:cNvSpPr>
            <a:spLocks noGrp="1"/>
          </p:cNvSpPr>
          <p:nvPr/>
        </p:nvSpPr>
        <p:spPr>
          <a:xfrm>
            <a:off x="7715250" y="3333750"/>
            <a:ext cx="2286000" cy="428625"/>
          </a:xfrm>
          <a:prstGeom prst="rect">
            <a:avLst/>
          </a:prstGeom>
          <a:noFill/>
          <a:ln w="0">
            <a:noFill/>
          </a:ln>
        </p:spPr>
        <p:txBody>
          <a:bodyPr/>
          <a:lstStyle>
            <a:defPPr>
              <a:defRPr sz="2250" b="1">
                <a:solidFill>
                  <a:srgbClr val="26313B"/>
                </a:solidFill>
                <a:latin typeface="Arial"/>
                <a:ea typeface="Arial"/>
                <a:cs typeface="Arial"/>
              </a:defRPr>
            </a:defPPr>
          </a:lstStyle>
          <a:p>
            <a:pPr>
              <a:buNone/>
              <a:defRPr sz="2250" b="1">
                <a:solidFill>
                  <a:srgbClr val="26313B"/>
                </a:solidFill>
                <a:latin typeface="Arial"/>
                <a:ea typeface="Arial"/>
                <a:cs typeface="Arial"/>
              </a:defRPr>
            </a:pPr>
            <a:r>
              <a:rPr sz="2250" b="1">
                <a:solidFill>
                  <a:srgbClr val="26313B"/>
                </a:solidFill>
                <a:latin typeface="Arial"/>
                <a:ea typeface="Arial"/>
                <a:cs typeface="Arial"/>
              </a:rPr>
              <a:t>330 Ω</a:t>
            </a:r>
          </a:p>
        </p:txBody>
      </p:sp>
      <p:pic>
        <p:nvPicPr>
          <p:cNvPr id="6" name="Picture 5">
            <a:extLst>
              <a:ext uri="{FF2B5EF4-FFF2-40B4-BE49-F238E27FC236}">
                <a16:creationId xmlns:a16="http://schemas.microsoft.com/office/drawing/2014/main" id="{46C0B662-7B9E-4D85-8F4F-9052029B9C57}"/>
              </a:ext>
            </a:extLst>
          </p:cNvPr>
          <p:cNvPicPr>
            <a:picLocks noChangeAspect="1"/>
          </p:cNvPicPr>
          <p:nvPr/>
        </p:nvPicPr>
        <p:blipFill>
          <a:blip r:embed="rId4"/>
          <a:stretch/>
        </p:blipFill>
        <p:spPr>
          <a:xfrm>
            <a:off x="7532077" y="3905250"/>
            <a:ext cx="1890346" cy="2047875"/>
          </a:xfrm>
          <a:prstGeom prst="rect">
            <a:avLst/>
          </a:prstGeom>
        </p:spPr>
      </p:pic>
    </p:spTree>
    <p:extLst>
      <p:ext uri="{BB962C8B-B14F-4D97-AF65-F5344CB8AC3E}">
        <p14:creationId xmlns:p14="http://schemas.microsoft.com/office/powerpoint/2010/main" val="12784462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573CCE9-483D-40BB-A649-ACA0F36AEFD3}"/>
              </a:ext>
            </a:extLst>
          </p:cNvPr>
          <p:cNvSpPr>
            <a:spLocks noGrp="1"/>
          </p:cNvSpPr>
          <p:nvPr/>
        </p:nvSpPr>
        <p:spPr>
          <a:xfrm>
            <a:off x="609600" y="476250"/>
            <a:ext cx="10668000" cy="666750"/>
          </a:xfrm>
          <a:prstGeom prst="rect">
            <a:avLst/>
          </a:prstGeom>
          <a:noFill/>
          <a:ln w="0">
            <a:noFill/>
          </a:ln>
        </p:spPr>
        <p:txBody>
          <a:bodyPr/>
          <a:lstStyle>
            <a:defPPr>
              <a:defRPr sz="3600" b="1">
                <a:solidFill>
                  <a:srgbClr val="26313B"/>
                </a:solidFill>
                <a:latin typeface="Arial"/>
                <a:ea typeface="Arial"/>
                <a:cs typeface="Arial"/>
              </a:defRPr>
            </a:defPPr>
          </a:lstStyle>
          <a:p>
            <a:pPr>
              <a:buNone/>
              <a:defRPr sz="3600" b="1">
                <a:solidFill>
                  <a:srgbClr val="26313B"/>
                </a:solidFill>
                <a:latin typeface="Arial"/>
                <a:ea typeface="Arial"/>
                <a:cs typeface="Arial"/>
              </a:defRPr>
            </a:pPr>
            <a:r>
              <a:rPr sz="3600" b="1">
                <a:solidFill>
                  <a:srgbClr val="26313B"/>
                </a:solidFill>
                <a:latin typeface="Arial"/>
                <a:ea typeface="Arial"/>
                <a:cs typeface="Arial"/>
              </a:rPr>
              <a:t>LED &amp; push button</a:t>
            </a:r>
          </a:p>
        </p:txBody>
      </p:sp>
      <p:sp>
        <p:nvSpPr>
          <p:cNvPr id="2" name="Rectangle 1">
            <a:extLst>
              <a:ext uri="{FF2B5EF4-FFF2-40B4-BE49-F238E27FC236}">
                <a16:creationId xmlns:a16="http://schemas.microsoft.com/office/drawing/2014/main" id="{D0B04EDF-6BED-4455-880E-A0AF3464363D}"/>
              </a:ext>
            </a:extLst>
          </p:cNvPr>
          <p:cNvSpPr>
            <a:spLocks noGrp="1"/>
          </p:cNvSpPr>
          <p:nvPr/>
        </p:nvSpPr>
        <p:spPr>
          <a:xfrm>
            <a:off x="11049000" y="6362700"/>
            <a:ext cx="533400" cy="228600"/>
          </a:xfrm>
          <a:prstGeom prst="rect">
            <a:avLst/>
          </a:prstGeom>
          <a:noFill/>
          <a:ln w="0">
            <a:noFill/>
          </a:ln>
        </p:spPr>
        <p:txBody>
          <a:bodyPr/>
          <a:lstStyle>
            <a:defPPr>
              <a:defRPr sz="1350" b="0">
                <a:solidFill>
                  <a:srgbClr val="73818C"/>
                </a:solidFill>
                <a:latin typeface="Arial"/>
                <a:ea typeface="Arial"/>
                <a:cs typeface="Arial"/>
              </a:defRPr>
            </a:defPPr>
          </a:lstStyle>
          <a:p>
            <a:pPr>
              <a:buNone/>
              <a:defRPr sz="1350" b="0">
                <a:solidFill>
                  <a:srgbClr val="73818C"/>
                </a:solidFill>
                <a:latin typeface="Arial"/>
                <a:ea typeface="Arial"/>
                <a:cs typeface="Arial"/>
              </a:defRPr>
            </a:pPr>
            <a:r>
              <a:rPr sz="1350" b="0">
                <a:solidFill>
                  <a:srgbClr val="73818C"/>
                </a:solidFill>
                <a:latin typeface="Arial"/>
                <a:ea typeface="Arial"/>
                <a:cs typeface="Arial"/>
              </a:rPr>
              <a:t>03</a:t>
            </a:r>
          </a:p>
        </p:txBody>
      </p:sp>
      <p:sp>
        <p:nvSpPr>
          <p:cNvPr id="3" name="Rectangle 2">
            <a:extLst>
              <a:ext uri="{FF2B5EF4-FFF2-40B4-BE49-F238E27FC236}">
                <a16:creationId xmlns:a16="http://schemas.microsoft.com/office/drawing/2014/main" id="{8E4C4B04-2DE2-428E-979F-3153F7C0ABE6}"/>
              </a:ext>
            </a:extLst>
          </p:cNvPr>
          <p:cNvSpPr>
            <a:spLocks noGrp="1"/>
          </p:cNvSpPr>
          <p:nvPr/>
        </p:nvSpPr>
        <p:spPr>
          <a:xfrm>
            <a:off x="609600" y="1571625"/>
            <a:ext cx="4381500" cy="428625"/>
          </a:xfrm>
          <a:prstGeom prst="rect">
            <a:avLst/>
          </a:prstGeom>
          <a:noFill/>
          <a:ln w="0">
            <a:noFill/>
          </a:ln>
        </p:spPr>
        <p:txBody>
          <a:bodyPr/>
          <a:lstStyle>
            <a:defPPr>
              <a:defRPr sz="2250" b="1">
                <a:solidFill>
                  <a:srgbClr val="26313B"/>
                </a:solidFill>
                <a:latin typeface="Arial"/>
                <a:ea typeface="Arial"/>
                <a:cs typeface="Arial"/>
              </a:defRPr>
            </a:defPPr>
          </a:lstStyle>
          <a:p>
            <a:pPr>
              <a:buNone/>
              <a:defRPr sz="2250" b="1">
                <a:solidFill>
                  <a:srgbClr val="26313B"/>
                </a:solidFill>
                <a:latin typeface="Arial"/>
                <a:ea typeface="Arial"/>
                <a:cs typeface="Arial"/>
              </a:defRPr>
            </a:pPr>
            <a:r>
              <a:rPr sz="2250" b="1">
                <a:solidFill>
                  <a:srgbClr val="26313B"/>
                </a:solidFill>
                <a:latin typeface="Arial"/>
                <a:ea typeface="Arial"/>
                <a:cs typeface="Arial"/>
              </a:rPr>
              <a:t>LED</a:t>
            </a:r>
          </a:p>
        </p:txBody>
      </p:sp>
      <p:sp>
        <p:nvSpPr>
          <p:cNvPr id="4" name="Rectangle 3">
            <a:extLst>
              <a:ext uri="{FF2B5EF4-FFF2-40B4-BE49-F238E27FC236}">
                <a16:creationId xmlns:a16="http://schemas.microsoft.com/office/drawing/2014/main" id="{D9093CE3-760B-4836-8C9C-0209D3FBE475}"/>
              </a:ext>
            </a:extLst>
          </p:cNvPr>
          <p:cNvSpPr>
            <a:spLocks noGrp="1"/>
          </p:cNvSpPr>
          <p:nvPr/>
        </p:nvSpPr>
        <p:spPr>
          <a:xfrm>
            <a:off x="609600" y="2143125"/>
            <a:ext cx="6858000" cy="1952625"/>
          </a:xfrm>
          <a:prstGeom prst="rect">
            <a:avLst/>
          </a:prstGeom>
          <a:noFill/>
          <a:ln w="0">
            <a:noFill/>
          </a:ln>
        </p:spPr>
        <p:txBody>
          <a:bodyPr/>
          <a:lstStyle>
            <a:defPPr>
              <a:defRPr sz="2250" b="0">
                <a:solidFill>
                  <a:srgbClr val="26313B"/>
                </a:solidFill>
                <a:latin typeface="Arial"/>
                <a:ea typeface="Arial"/>
                <a:cs typeface="Arial"/>
              </a:defRPr>
            </a:defPPr>
          </a:lstStyle>
          <a:p>
            <a:pPr marL="254000" indent="-152400">
              <a:spcAft>
                <a:spcPts val="1800"/>
              </a:spcAft>
              <a:buChar char="•"/>
              <a:defRPr sz="2250" b="0">
                <a:solidFill>
                  <a:srgbClr val="26313B"/>
                </a:solidFill>
                <a:latin typeface="Arial"/>
                <a:ea typeface="Arial"/>
                <a:cs typeface="Arial"/>
              </a:defRPr>
            </a:pPr>
            <a:r>
              <a:t>Current flows one way</a:t>
            </a:r>
          </a:p>
          <a:p>
            <a:pPr marL="254000" indent="-152400">
              <a:spcAft>
                <a:spcPts val="1800"/>
              </a:spcAft>
              <a:buChar char="•"/>
              <a:defRPr sz="2250" b="0">
                <a:solidFill>
                  <a:srgbClr val="26313B"/>
                </a:solidFill>
                <a:latin typeface="Arial"/>
                <a:ea typeface="Arial"/>
                <a:cs typeface="Arial"/>
              </a:defRPr>
            </a:pPr>
            <a:r>
              <a:t>Anode (+): long leg</a:t>
            </a:r>
          </a:p>
          <a:p>
            <a:pPr marL="254000" indent="-152400">
              <a:spcAft>
                <a:spcPts val="1800"/>
              </a:spcAft>
              <a:buChar char="•"/>
              <a:defRPr sz="2250" b="0">
                <a:solidFill>
                  <a:srgbClr val="26313B"/>
                </a:solidFill>
                <a:latin typeface="Arial"/>
                <a:ea typeface="Arial"/>
                <a:cs typeface="Arial"/>
              </a:defRPr>
            </a:pPr>
            <a:r>
              <a:t>Cathode (−): short leg / flat side</a:t>
            </a:r>
          </a:p>
        </p:txBody>
      </p:sp>
      <p:sp>
        <p:nvSpPr>
          <p:cNvPr id="5" name="Rectangle 4">
            <a:extLst>
              <a:ext uri="{FF2B5EF4-FFF2-40B4-BE49-F238E27FC236}">
                <a16:creationId xmlns:a16="http://schemas.microsoft.com/office/drawing/2014/main" id="{8A275D21-294A-4D5D-8F19-BDC36CCC6962}"/>
              </a:ext>
            </a:extLst>
          </p:cNvPr>
          <p:cNvSpPr>
            <a:spLocks noGrp="1"/>
          </p:cNvSpPr>
          <p:nvPr/>
        </p:nvSpPr>
        <p:spPr>
          <a:xfrm>
            <a:off x="609600" y="4238625"/>
            <a:ext cx="4286250" cy="428625"/>
          </a:xfrm>
          <a:prstGeom prst="rect">
            <a:avLst/>
          </a:prstGeom>
          <a:noFill/>
          <a:ln w="0">
            <a:noFill/>
          </a:ln>
        </p:spPr>
        <p:txBody>
          <a:bodyPr/>
          <a:lstStyle>
            <a:defPPr>
              <a:defRPr sz="2250" b="1">
                <a:solidFill>
                  <a:srgbClr val="26313B"/>
                </a:solidFill>
                <a:latin typeface="Arial"/>
                <a:ea typeface="Arial"/>
                <a:cs typeface="Arial"/>
              </a:defRPr>
            </a:defPPr>
          </a:lstStyle>
          <a:p>
            <a:pPr>
              <a:buNone/>
              <a:defRPr sz="2250" b="1">
                <a:solidFill>
                  <a:srgbClr val="26313B"/>
                </a:solidFill>
                <a:latin typeface="Arial"/>
                <a:ea typeface="Arial"/>
                <a:cs typeface="Arial"/>
              </a:defRPr>
            </a:pPr>
            <a:r>
              <a:rPr sz="2250" b="1">
                <a:solidFill>
                  <a:srgbClr val="26313B"/>
                </a:solidFill>
                <a:latin typeface="Arial"/>
                <a:ea typeface="Arial"/>
                <a:cs typeface="Arial"/>
              </a:rPr>
              <a:t>Push button</a:t>
            </a:r>
          </a:p>
        </p:txBody>
      </p:sp>
      <p:sp>
        <p:nvSpPr>
          <p:cNvPr id="6" name="Rectangle 5">
            <a:extLst>
              <a:ext uri="{FF2B5EF4-FFF2-40B4-BE49-F238E27FC236}">
                <a16:creationId xmlns:a16="http://schemas.microsoft.com/office/drawing/2014/main" id="{B0CB72D6-A210-40BD-8A9C-38CAA49FE59A}"/>
              </a:ext>
            </a:extLst>
          </p:cNvPr>
          <p:cNvSpPr>
            <a:spLocks noGrp="1"/>
          </p:cNvSpPr>
          <p:nvPr/>
        </p:nvSpPr>
        <p:spPr>
          <a:xfrm>
            <a:off x="609600" y="4810125"/>
            <a:ext cx="5619750" cy="1143000"/>
          </a:xfrm>
          <a:prstGeom prst="rect">
            <a:avLst/>
          </a:prstGeom>
          <a:noFill/>
          <a:ln w="0">
            <a:noFill/>
          </a:ln>
        </p:spPr>
        <p:txBody>
          <a:bodyPr/>
          <a:lstStyle>
            <a:defPPr>
              <a:defRPr sz="2250" b="0">
                <a:solidFill>
                  <a:srgbClr val="26313B"/>
                </a:solidFill>
                <a:latin typeface="Arial"/>
                <a:ea typeface="Arial"/>
                <a:cs typeface="Arial"/>
              </a:defRPr>
            </a:defPPr>
          </a:lstStyle>
          <a:p>
            <a:pPr marL="254000" indent="-152400">
              <a:spcAft>
                <a:spcPts val="1800"/>
              </a:spcAft>
              <a:buChar char="•"/>
              <a:defRPr sz="2250" b="0">
                <a:solidFill>
                  <a:srgbClr val="26313B"/>
                </a:solidFill>
                <a:latin typeface="Arial"/>
                <a:ea typeface="Arial"/>
                <a:cs typeface="Arial"/>
              </a:defRPr>
            </a:pPr>
            <a:r>
              <a:t>Press to complete the circuit</a:t>
            </a:r>
          </a:p>
          <a:p>
            <a:pPr marL="254000" indent="-152400">
              <a:spcAft>
                <a:spcPts val="1800"/>
              </a:spcAft>
              <a:buChar char="•"/>
              <a:defRPr sz="2250" b="0">
                <a:solidFill>
                  <a:srgbClr val="26313B"/>
                </a:solidFill>
                <a:latin typeface="Arial"/>
                <a:ea typeface="Arial"/>
                <a:cs typeface="Arial"/>
              </a:defRPr>
            </a:pPr>
            <a:r>
              <a:t>Release to break the circuit</a:t>
            </a:r>
          </a:p>
        </p:txBody>
      </p:sp>
      <p:pic>
        <p:nvPicPr>
          <p:cNvPr id="7" name="Picture 6">
            <a:extLst>
              <a:ext uri="{FF2B5EF4-FFF2-40B4-BE49-F238E27FC236}">
                <a16:creationId xmlns:a16="http://schemas.microsoft.com/office/drawing/2014/main" id="{0AB4079D-7B5D-41D0-B2C5-8AC4671D8472}"/>
              </a:ext>
            </a:extLst>
          </p:cNvPr>
          <p:cNvPicPr>
            <a:picLocks noChangeAspect="1"/>
          </p:cNvPicPr>
          <p:nvPr/>
        </p:nvPicPr>
        <p:blipFill>
          <a:blip r:embed="rId3"/>
          <a:stretch/>
        </p:blipFill>
        <p:spPr>
          <a:xfrm>
            <a:off x="8191500" y="1641872"/>
            <a:ext cx="1381125" cy="1726406"/>
          </a:xfrm>
          <a:prstGeom prst="rect">
            <a:avLst/>
          </a:prstGeom>
        </p:spPr>
      </p:pic>
      <p:pic>
        <p:nvPicPr>
          <p:cNvPr id="8" name="Picture 7">
            <a:extLst>
              <a:ext uri="{FF2B5EF4-FFF2-40B4-BE49-F238E27FC236}">
                <a16:creationId xmlns:a16="http://schemas.microsoft.com/office/drawing/2014/main" id="{7D6D647B-B3B5-43CC-98D8-573F0E7492EC}"/>
              </a:ext>
            </a:extLst>
          </p:cNvPr>
          <p:cNvPicPr>
            <a:picLocks noChangeAspect="1"/>
          </p:cNvPicPr>
          <p:nvPr/>
        </p:nvPicPr>
        <p:blipFill>
          <a:blip r:embed="rId4"/>
          <a:stretch/>
        </p:blipFill>
        <p:spPr>
          <a:xfrm>
            <a:off x="8211048" y="4286250"/>
            <a:ext cx="1342030" cy="1524000"/>
          </a:xfrm>
          <a:prstGeom prst="rect">
            <a:avLst/>
          </a:prstGeom>
        </p:spPr>
      </p:pic>
    </p:spTree>
    <p:extLst>
      <p:ext uri="{BB962C8B-B14F-4D97-AF65-F5344CB8AC3E}">
        <p14:creationId xmlns:p14="http://schemas.microsoft.com/office/powerpoint/2010/main" val="633134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F4DD2CC-B56A-4957-81EE-7123A6D8F0E2}"/>
              </a:ext>
            </a:extLst>
          </p:cNvPr>
          <p:cNvSpPr>
            <a:spLocks noGrp="1"/>
          </p:cNvSpPr>
          <p:nvPr/>
        </p:nvSpPr>
        <p:spPr>
          <a:xfrm>
            <a:off x="609600" y="476250"/>
            <a:ext cx="10668000" cy="666750"/>
          </a:xfrm>
          <a:prstGeom prst="rect">
            <a:avLst/>
          </a:prstGeom>
          <a:noFill/>
          <a:ln w="0">
            <a:noFill/>
          </a:ln>
        </p:spPr>
        <p:txBody>
          <a:bodyPr/>
          <a:lstStyle>
            <a:defPPr>
              <a:defRPr sz="3600" b="1">
                <a:solidFill>
                  <a:srgbClr val="26313B"/>
                </a:solidFill>
                <a:latin typeface="Arial"/>
                <a:ea typeface="Arial"/>
                <a:cs typeface="Arial"/>
              </a:defRPr>
            </a:defPPr>
          </a:lstStyle>
          <a:p>
            <a:pPr>
              <a:buNone/>
              <a:defRPr sz="3600" b="1">
                <a:solidFill>
                  <a:srgbClr val="26313B"/>
                </a:solidFill>
                <a:latin typeface="Arial"/>
                <a:ea typeface="Arial"/>
                <a:cs typeface="Arial"/>
              </a:defRPr>
            </a:pPr>
            <a:r>
              <a:rPr sz="3600" b="1">
                <a:solidFill>
                  <a:srgbClr val="26313B"/>
                </a:solidFill>
                <a:latin typeface="Arial"/>
                <a:ea typeface="Arial"/>
                <a:cs typeface="Arial"/>
              </a:rPr>
              <a:t>Circuit 1: Basic LED</a:t>
            </a:r>
          </a:p>
        </p:txBody>
      </p:sp>
      <p:sp>
        <p:nvSpPr>
          <p:cNvPr id="2" name="Rectangle 1">
            <a:extLst>
              <a:ext uri="{FF2B5EF4-FFF2-40B4-BE49-F238E27FC236}">
                <a16:creationId xmlns:a16="http://schemas.microsoft.com/office/drawing/2014/main" id="{882BEFA4-613B-4929-8331-D399624490C5}"/>
              </a:ext>
            </a:extLst>
          </p:cNvPr>
          <p:cNvSpPr>
            <a:spLocks noGrp="1"/>
          </p:cNvSpPr>
          <p:nvPr/>
        </p:nvSpPr>
        <p:spPr>
          <a:xfrm>
            <a:off x="11049000" y="6362700"/>
            <a:ext cx="533400" cy="228600"/>
          </a:xfrm>
          <a:prstGeom prst="rect">
            <a:avLst/>
          </a:prstGeom>
          <a:noFill/>
          <a:ln w="0">
            <a:noFill/>
          </a:ln>
        </p:spPr>
        <p:txBody>
          <a:bodyPr/>
          <a:lstStyle>
            <a:defPPr>
              <a:defRPr sz="1350" b="0">
                <a:solidFill>
                  <a:srgbClr val="73818C"/>
                </a:solidFill>
                <a:latin typeface="Arial"/>
                <a:ea typeface="Arial"/>
                <a:cs typeface="Arial"/>
              </a:defRPr>
            </a:defPPr>
          </a:lstStyle>
          <a:p>
            <a:pPr>
              <a:buNone/>
              <a:defRPr sz="1350" b="0">
                <a:solidFill>
                  <a:srgbClr val="73818C"/>
                </a:solidFill>
                <a:latin typeface="Arial"/>
                <a:ea typeface="Arial"/>
                <a:cs typeface="Arial"/>
              </a:defRPr>
            </a:pPr>
            <a:r>
              <a:rPr sz="1350" b="0">
                <a:solidFill>
                  <a:srgbClr val="73818C"/>
                </a:solidFill>
                <a:latin typeface="Arial"/>
                <a:ea typeface="Arial"/>
                <a:cs typeface="Arial"/>
              </a:rPr>
              <a:t>04</a:t>
            </a:r>
          </a:p>
        </p:txBody>
      </p:sp>
      <p:sp>
        <p:nvSpPr>
          <p:cNvPr id="3" name="Rectangle 2">
            <a:extLst>
              <a:ext uri="{FF2B5EF4-FFF2-40B4-BE49-F238E27FC236}">
                <a16:creationId xmlns:a16="http://schemas.microsoft.com/office/drawing/2014/main" id="{D50837A4-D4BB-4C92-AC03-530A03B985F6}"/>
              </a:ext>
            </a:extLst>
          </p:cNvPr>
          <p:cNvSpPr>
            <a:spLocks noGrp="1"/>
          </p:cNvSpPr>
          <p:nvPr/>
        </p:nvSpPr>
        <p:spPr>
          <a:xfrm>
            <a:off x="609600" y="1476375"/>
            <a:ext cx="7048500" cy="381000"/>
          </a:xfrm>
          <a:prstGeom prst="rect">
            <a:avLst/>
          </a:prstGeom>
          <a:noFill/>
          <a:ln w="0">
            <a:noFill/>
          </a:ln>
        </p:spPr>
        <p:txBody>
          <a:bodyPr/>
          <a:lstStyle>
            <a:defPPr>
              <a:defRPr sz="1875" b="1">
                <a:solidFill>
                  <a:srgbClr val="26313B"/>
                </a:solidFill>
                <a:latin typeface="Arial"/>
                <a:ea typeface="Arial"/>
                <a:cs typeface="Arial"/>
              </a:defRPr>
            </a:defPPr>
          </a:lstStyle>
          <a:p>
            <a:pPr>
              <a:buNone/>
              <a:defRPr sz="1875" b="1">
                <a:solidFill>
                  <a:srgbClr val="26313B"/>
                </a:solidFill>
                <a:latin typeface="Arial"/>
                <a:ea typeface="Arial"/>
                <a:cs typeface="Arial"/>
              </a:defRPr>
            </a:pPr>
            <a:r>
              <a:rPr sz="1875" b="1">
                <a:solidFill>
                  <a:srgbClr val="26313B"/>
                </a:solidFill>
                <a:latin typeface="Arial"/>
                <a:ea typeface="Arial"/>
                <a:cs typeface="Arial"/>
              </a:rPr>
              <a:t>Tinkercad</a:t>
            </a:r>
          </a:p>
        </p:txBody>
      </p:sp>
      <p:sp>
        <p:nvSpPr>
          <p:cNvPr id="4" name="Rectangle 3">
            <a:extLst>
              <a:ext uri="{FF2B5EF4-FFF2-40B4-BE49-F238E27FC236}">
                <a16:creationId xmlns:a16="http://schemas.microsoft.com/office/drawing/2014/main" id="{FA87617A-0CF2-4D47-9833-2EB7CAC97072}"/>
              </a:ext>
            </a:extLst>
          </p:cNvPr>
          <p:cNvSpPr>
            <a:spLocks noGrp="1"/>
          </p:cNvSpPr>
          <p:nvPr/>
        </p:nvSpPr>
        <p:spPr>
          <a:xfrm>
            <a:off x="8286750" y="1476375"/>
            <a:ext cx="3238500" cy="381000"/>
          </a:xfrm>
          <a:prstGeom prst="rect">
            <a:avLst/>
          </a:prstGeom>
          <a:noFill/>
          <a:ln w="0">
            <a:noFill/>
          </a:ln>
        </p:spPr>
        <p:txBody>
          <a:bodyPr/>
          <a:lstStyle>
            <a:defPPr>
              <a:defRPr sz="1875" b="1">
                <a:solidFill>
                  <a:srgbClr val="26313B"/>
                </a:solidFill>
                <a:latin typeface="Arial"/>
                <a:ea typeface="Arial"/>
                <a:cs typeface="Arial"/>
              </a:defRPr>
            </a:defPPr>
          </a:lstStyle>
          <a:p>
            <a:pPr>
              <a:buNone/>
              <a:defRPr sz="1875" b="1">
                <a:solidFill>
                  <a:srgbClr val="26313B"/>
                </a:solidFill>
                <a:latin typeface="Arial"/>
                <a:ea typeface="Arial"/>
                <a:cs typeface="Arial"/>
              </a:defRPr>
            </a:pPr>
            <a:r>
              <a:rPr sz="1875" b="1">
                <a:solidFill>
                  <a:srgbClr val="26313B"/>
                </a:solidFill>
                <a:latin typeface="Arial"/>
                <a:ea typeface="Arial"/>
                <a:cs typeface="Arial"/>
              </a:rPr>
              <a:t>Physical build</a:t>
            </a:r>
          </a:p>
        </p:txBody>
      </p:sp>
      <p:pic>
        <p:nvPicPr>
          <p:cNvPr id="5" name="Picture 4">
            <a:extLst>
              <a:ext uri="{FF2B5EF4-FFF2-40B4-BE49-F238E27FC236}">
                <a16:creationId xmlns:a16="http://schemas.microsoft.com/office/drawing/2014/main" id="{D18E8000-9B24-4CEC-B172-8D8DAB1725CB}"/>
              </a:ext>
            </a:extLst>
          </p:cNvPr>
          <p:cNvPicPr>
            <a:picLocks noChangeAspect="1"/>
          </p:cNvPicPr>
          <p:nvPr/>
        </p:nvPicPr>
        <p:blipFill>
          <a:blip r:embed="rId3"/>
          <a:stretch/>
        </p:blipFill>
        <p:spPr>
          <a:xfrm>
            <a:off x="514350" y="2045229"/>
            <a:ext cx="7334250" cy="3434292"/>
          </a:xfrm>
          <a:prstGeom prst="rect">
            <a:avLst/>
          </a:prstGeom>
        </p:spPr>
      </p:pic>
      <p:pic>
        <p:nvPicPr>
          <p:cNvPr id="6" name="Picture 5">
            <a:extLst>
              <a:ext uri="{FF2B5EF4-FFF2-40B4-BE49-F238E27FC236}">
                <a16:creationId xmlns:a16="http://schemas.microsoft.com/office/drawing/2014/main" id="{4506E9A7-A859-4726-BB24-22CB9AA0E836}"/>
              </a:ext>
            </a:extLst>
          </p:cNvPr>
          <p:cNvPicPr>
            <a:picLocks noChangeAspect="1"/>
          </p:cNvPicPr>
          <p:nvPr/>
        </p:nvPicPr>
        <p:blipFill>
          <a:blip r:embed="rId4"/>
          <a:stretch/>
        </p:blipFill>
        <p:spPr>
          <a:xfrm>
            <a:off x="8441531" y="2000250"/>
            <a:ext cx="2928938" cy="3905250"/>
          </a:xfrm>
          <a:prstGeom prst="rect">
            <a:avLst/>
          </a:prstGeom>
        </p:spPr>
      </p:pic>
    </p:spTree>
    <p:extLst>
      <p:ext uri="{BB962C8B-B14F-4D97-AF65-F5344CB8AC3E}">
        <p14:creationId xmlns:p14="http://schemas.microsoft.com/office/powerpoint/2010/main" val="8568020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307BCA1-30EC-4C01-83C6-8CE9DE43D06B}"/>
              </a:ext>
            </a:extLst>
          </p:cNvPr>
          <p:cNvSpPr>
            <a:spLocks noGrp="1"/>
          </p:cNvSpPr>
          <p:nvPr/>
        </p:nvSpPr>
        <p:spPr>
          <a:xfrm>
            <a:off x="609600" y="476250"/>
            <a:ext cx="10668000" cy="666750"/>
          </a:xfrm>
          <a:prstGeom prst="rect">
            <a:avLst/>
          </a:prstGeom>
          <a:noFill/>
          <a:ln w="0">
            <a:noFill/>
          </a:ln>
        </p:spPr>
        <p:txBody>
          <a:bodyPr/>
          <a:lstStyle>
            <a:defPPr>
              <a:defRPr sz="3600" b="1">
                <a:solidFill>
                  <a:srgbClr val="26313B"/>
                </a:solidFill>
                <a:latin typeface="Arial"/>
                <a:ea typeface="Arial"/>
                <a:cs typeface="Arial"/>
              </a:defRPr>
            </a:defPPr>
          </a:lstStyle>
          <a:p>
            <a:pPr>
              <a:buNone/>
              <a:defRPr sz="3600" b="1">
                <a:solidFill>
                  <a:srgbClr val="26313B"/>
                </a:solidFill>
                <a:latin typeface="Arial"/>
                <a:ea typeface="Arial"/>
                <a:cs typeface="Arial"/>
              </a:defRPr>
            </a:pPr>
            <a:r>
              <a:rPr sz="3600" b="1">
                <a:solidFill>
                  <a:srgbClr val="26313B"/>
                </a:solidFill>
                <a:latin typeface="Arial"/>
                <a:ea typeface="Arial"/>
                <a:cs typeface="Arial"/>
              </a:rPr>
              <a:t>Circuit 2: Push-button LED</a:t>
            </a:r>
          </a:p>
        </p:txBody>
      </p:sp>
      <p:sp>
        <p:nvSpPr>
          <p:cNvPr id="2" name="Rectangle 1">
            <a:extLst>
              <a:ext uri="{FF2B5EF4-FFF2-40B4-BE49-F238E27FC236}">
                <a16:creationId xmlns:a16="http://schemas.microsoft.com/office/drawing/2014/main" id="{D00FA588-E5C6-458B-A25D-43C01399E630}"/>
              </a:ext>
            </a:extLst>
          </p:cNvPr>
          <p:cNvSpPr>
            <a:spLocks noGrp="1"/>
          </p:cNvSpPr>
          <p:nvPr/>
        </p:nvSpPr>
        <p:spPr>
          <a:xfrm>
            <a:off x="11049000" y="6362700"/>
            <a:ext cx="533400" cy="228600"/>
          </a:xfrm>
          <a:prstGeom prst="rect">
            <a:avLst/>
          </a:prstGeom>
          <a:noFill/>
          <a:ln w="0">
            <a:noFill/>
          </a:ln>
        </p:spPr>
        <p:txBody>
          <a:bodyPr/>
          <a:lstStyle>
            <a:defPPr>
              <a:defRPr sz="1350" b="0">
                <a:solidFill>
                  <a:srgbClr val="73818C"/>
                </a:solidFill>
                <a:latin typeface="Arial"/>
                <a:ea typeface="Arial"/>
                <a:cs typeface="Arial"/>
              </a:defRPr>
            </a:defPPr>
          </a:lstStyle>
          <a:p>
            <a:pPr>
              <a:buNone/>
              <a:defRPr sz="1350" b="0">
                <a:solidFill>
                  <a:srgbClr val="73818C"/>
                </a:solidFill>
                <a:latin typeface="Arial"/>
                <a:ea typeface="Arial"/>
                <a:cs typeface="Arial"/>
              </a:defRPr>
            </a:pPr>
            <a:r>
              <a:rPr sz="1350" b="0">
                <a:solidFill>
                  <a:srgbClr val="73818C"/>
                </a:solidFill>
                <a:latin typeface="Arial"/>
                <a:ea typeface="Arial"/>
                <a:cs typeface="Arial"/>
              </a:rPr>
              <a:t>05</a:t>
            </a:r>
          </a:p>
        </p:txBody>
      </p:sp>
      <p:sp>
        <p:nvSpPr>
          <p:cNvPr id="3" name="Rectangle 2">
            <a:extLst>
              <a:ext uri="{FF2B5EF4-FFF2-40B4-BE49-F238E27FC236}">
                <a16:creationId xmlns:a16="http://schemas.microsoft.com/office/drawing/2014/main" id="{8F9528B4-CC30-48AC-94EC-89D7655F366F}"/>
              </a:ext>
            </a:extLst>
          </p:cNvPr>
          <p:cNvSpPr>
            <a:spLocks noGrp="1"/>
          </p:cNvSpPr>
          <p:nvPr/>
        </p:nvSpPr>
        <p:spPr>
          <a:xfrm>
            <a:off x="609600" y="1476375"/>
            <a:ext cx="7048500" cy="381000"/>
          </a:xfrm>
          <a:prstGeom prst="rect">
            <a:avLst/>
          </a:prstGeom>
          <a:noFill/>
          <a:ln w="0">
            <a:noFill/>
          </a:ln>
        </p:spPr>
        <p:txBody>
          <a:bodyPr/>
          <a:lstStyle>
            <a:defPPr>
              <a:defRPr sz="1875" b="1">
                <a:solidFill>
                  <a:srgbClr val="26313B"/>
                </a:solidFill>
                <a:latin typeface="Arial"/>
                <a:ea typeface="Arial"/>
                <a:cs typeface="Arial"/>
              </a:defRPr>
            </a:defPPr>
          </a:lstStyle>
          <a:p>
            <a:pPr>
              <a:buNone/>
              <a:defRPr sz="1875" b="1">
                <a:solidFill>
                  <a:srgbClr val="26313B"/>
                </a:solidFill>
                <a:latin typeface="Arial"/>
                <a:ea typeface="Arial"/>
                <a:cs typeface="Arial"/>
              </a:defRPr>
            </a:pPr>
            <a:r>
              <a:rPr sz="1875" b="1">
                <a:solidFill>
                  <a:srgbClr val="26313B"/>
                </a:solidFill>
                <a:latin typeface="Arial"/>
                <a:ea typeface="Arial"/>
                <a:cs typeface="Arial"/>
              </a:rPr>
              <a:t>Tinkercad</a:t>
            </a:r>
          </a:p>
        </p:txBody>
      </p:sp>
      <p:sp>
        <p:nvSpPr>
          <p:cNvPr id="4" name="Rectangle 3">
            <a:extLst>
              <a:ext uri="{FF2B5EF4-FFF2-40B4-BE49-F238E27FC236}">
                <a16:creationId xmlns:a16="http://schemas.microsoft.com/office/drawing/2014/main" id="{C86A6141-3629-4E1F-B2BE-1D0F9C95BFB5}"/>
              </a:ext>
            </a:extLst>
          </p:cNvPr>
          <p:cNvSpPr>
            <a:spLocks noGrp="1"/>
          </p:cNvSpPr>
          <p:nvPr/>
        </p:nvSpPr>
        <p:spPr>
          <a:xfrm>
            <a:off x="8286750" y="1476375"/>
            <a:ext cx="3238500" cy="381000"/>
          </a:xfrm>
          <a:prstGeom prst="rect">
            <a:avLst/>
          </a:prstGeom>
          <a:noFill/>
          <a:ln w="0">
            <a:noFill/>
          </a:ln>
        </p:spPr>
        <p:txBody>
          <a:bodyPr/>
          <a:lstStyle>
            <a:defPPr>
              <a:defRPr sz="1875" b="1">
                <a:solidFill>
                  <a:srgbClr val="26313B"/>
                </a:solidFill>
                <a:latin typeface="Arial"/>
                <a:ea typeface="Arial"/>
                <a:cs typeface="Arial"/>
              </a:defRPr>
            </a:defPPr>
          </a:lstStyle>
          <a:p>
            <a:pPr>
              <a:buNone/>
              <a:defRPr sz="1875" b="1">
                <a:solidFill>
                  <a:srgbClr val="26313B"/>
                </a:solidFill>
                <a:latin typeface="Arial"/>
                <a:ea typeface="Arial"/>
                <a:cs typeface="Arial"/>
              </a:defRPr>
            </a:pPr>
            <a:r>
              <a:rPr sz="1875" b="1">
                <a:solidFill>
                  <a:srgbClr val="26313B"/>
                </a:solidFill>
                <a:latin typeface="Arial"/>
                <a:ea typeface="Arial"/>
                <a:cs typeface="Arial"/>
              </a:rPr>
              <a:t>Physical build</a:t>
            </a:r>
          </a:p>
        </p:txBody>
      </p:sp>
      <p:pic>
        <p:nvPicPr>
          <p:cNvPr id="5" name="Picture 4">
            <a:extLst>
              <a:ext uri="{FF2B5EF4-FFF2-40B4-BE49-F238E27FC236}">
                <a16:creationId xmlns:a16="http://schemas.microsoft.com/office/drawing/2014/main" id="{F4B1E160-FF16-474A-9704-07E058A12021}"/>
              </a:ext>
            </a:extLst>
          </p:cNvPr>
          <p:cNvPicPr>
            <a:picLocks noChangeAspect="1"/>
          </p:cNvPicPr>
          <p:nvPr/>
        </p:nvPicPr>
        <p:blipFill>
          <a:blip r:embed="rId3"/>
          <a:stretch/>
        </p:blipFill>
        <p:spPr>
          <a:xfrm>
            <a:off x="694128" y="2000250"/>
            <a:ext cx="6974694" cy="3524250"/>
          </a:xfrm>
          <a:prstGeom prst="rect">
            <a:avLst/>
          </a:prstGeom>
        </p:spPr>
      </p:pic>
      <p:pic>
        <p:nvPicPr>
          <p:cNvPr id="6" name="Picture 5">
            <a:extLst>
              <a:ext uri="{FF2B5EF4-FFF2-40B4-BE49-F238E27FC236}">
                <a16:creationId xmlns:a16="http://schemas.microsoft.com/office/drawing/2014/main" id="{78A8052B-D5AF-48AE-B639-39931B6180DA}"/>
              </a:ext>
            </a:extLst>
          </p:cNvPr>
          <p:cNvPicPr>
            <a:picLocks noChangeAspect="1"/>
          </p:cNvPicPr>
          <p:nvPr/>
        </p:nvPicPr>
        <p:blipFill>
          <a:blip r:embed="rId4"/>
          <a:stretch/>
        </p:blipFill>
        <p:spPr>
          <a:xfrm>
            <a:off x="8807648" y="2000250"/>
            <a:ext cx="2196703" cy="3905250"/>
          </a:xfrm>
          <a:prstGeom prst="rect">
            <a:avLst/>
          </a:prstGeom>
        </p:spPr>
      </p:pic>
    </p:spTree>
    <p:extLst>
      <p:ext uri="{BB962C8B-B14F-4D97-AF65-F5344CB8AC3E}">
        <p14:creationId xmlns:p14="http://schemas.microsoft.com/office/powerpoint/2010/main" val="10677675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E85D04A-D0AE-4DBE-9670-6AFC3D175C9C}"/>
              </a:ext>
            </a:extLst>
          </p:cNvPr>
          <p:cNvSpPr>
            <a:spLocks noGrp="1"/>
          </p:cNvSpPr>
          <p:nvPr/>
        </p:nvSpPr>
        <p:spPr>
          <a:xfrm>
            <a:off x="609600" y="476250"/>
            <a:ext cx="10668000" cy="666750"/>
          </a:xfrm>
          <a:prstGeom prst="rect">
            <a:avLst/>
          </a:prstGeom>
          <a:noFill/>
          <a:ln w="0">
            <a:noFill/>
          </a:ln>
        </p:spPr>
        <p:txBody>
          <a:bodyPr/>
          <a:lstStyle>
            <a:defPPr>
              <a:defRPr sz="3600" b="1">
                <a:solidFill>
                  <a:srgbClr val="26313B"/>
                </a:solidFill>
                <a:latin typeface="Arial"/>
                <a:ea typeface="Arial"/>
                <a:cs typeface="Arial"/>
              </a:defRPr>
            </a:defPPr>
          </a:lstStyle>
          <a:p>
            <a:pPr>
              <a:defRPr sz="3600" b="1">
                <a:solidFill>
                  <a:srgbClr val="26313B"/>
                </a:solidFill>
                <a:latin typeface="Arial"/>
                <a:ea typeface="Arial"/>
                <a:cs typeface="Arial"/>
              </a:defRPr>
            </a:pPr>
            <a:r>
              <a:rPr sz="3600" b="1">
                <a:solidFill>
                  <a:srgbClr val="26313B"/>
                </a:solidFill>
                <a:latin typeface="Arial"/>
                <a:ea typeface="Arial"/>
                <a:cs typeface="Arial"/>
              </a:rPr>
              <a:t>Is this circuit valid?</a:t>
            </a:r>
          </a:p>
        </p:txBody>
      </p:sp>
      <p:sp>
        <p:nvSpPr>
          <p:cNvPr id="2" name="Rectangle 1">
            <a:extLst>
              <a:ext uri="{FF2B5EF4-FFF2-40B4-BE49-F238E27FC236}">
                <a16:creationId xmlns:a16="http://schemas.microsoft.com/office/drawing/2014/main" id="{1C5088D0-7302-4CA1-8C58-9FAD86E5CAE4}"/>
              </a:ext>
            </a:extLst>
          </p:cNvPr>
          <p:cNvSpPr>
            <a:spLocks noGrp="1"/>
          </p:cNvSpPr>
          <p:nvPr/>
        </p:nvSpPr>
        <p:spPr>
          <a:xfrm>
            <a:off x="11049000" y="6362700"/>
            <a:ext cx="533400" cy="228600"/>
          </a:xfrm>
          <a:prstGeom prst="rect">
            <a:avLst/>
          </a:prstGeom>
          <a:noFill/>
          <a:ln w="0">
            <a:noFill/>
          </a:ln>
        </p:spPr>
        <p:txBody>
          <a:bodyPr/>
          <a:lstStyle>
            <a:defPPr>
              <a:defRPr sz="1350" b="0">
                <a:solidFill>
                  <a:srgbClr val="73818C"/>
                </a:solidFill>
                <a:latin typeface="Arial"/>
                <a:ea typeface="Arial"/>
                <a:cs typeface="Arial"/>
              </a:defRPr>
            </a:defPPr>
          </a:lstStyle>
          <a:p>
            <a:pPr>
              <a:defRPr sz="1350" b="0">
                <a:solidFill>
                  <a:srgbClr val="73818C"/>
                </a:solidFill>
                <a:latin typeface="Arial"/>
                <a:ea typeface="Arial"/>
                <a:cs typeface="Arial"/>
              </a:defRPr>
            </a:pPr>
            <a:r>
              <a:rPr sz="1350" b="0">
                <a:solidFill>
                  <a:srgbClr val="73818C"/>
                </a:solidFill>
                <a:latin typeface="Arial"/>
                <a:ea typeface="Arial"/>
                <a:cs typeface="Arial"/>
              </a:rPr>
              <a:t>08</a:t>
            </a:r>
          </a:p>
        </p:txBody>
      </p:sp>
      <p:sp>
        <p:nvSpPr>
          <p:cNvPr id="3" name="tinkercad-link">
            <a:extLst>
              <a:ext uri="{FF2B5EF4-FFF2-40B4-BE49-F238E27FC236}">
                <a16:creationId xmlns:a16="http://schemas.microsoft.com/office/drawing/2014/main" id="{8799C04A-63F5-4FA3-9672-BC85E0CB8AC7}"/>
              </a:ext>
            </a:extLst>
          </p:cNvPr>
          <p:cNvSpPr>
            <a:spLocks noGrp="1"/>
          </p:cNvSpPr>
          <p:nvPr/>
        </p:nvSpPr>
        <p:spPr>
          <a:xfrm>
            <a:off x="609600" y="6162675"/>
            <a:ext cx="6858000" cy="400050"/>
          </a:xfrm>
          <a:prstGeom prst="rect">
            <a:avLst/>
          </a:prstGeom>
          <a:noFill/>
          <a:ln w="0">
            <a:noFill/>
          </a:ln>
        </p:spPr>
        <p:txBody>
          <a:bodyPr/>
          <a:lstStyle>
            <a:defPPr>
              <a:defRPr sz="1800" b="0">
                <a:solidFill>
                  <a:srgbClr val="1C65A0"/>
                </a:solidFill>
                <a:latin typeface="Arial"/>
                <a:ea typeface="Arial"/>
                <a:cs typeface="Arial"/>
              </a:defRPr>
            </a:defPPr>
          </a:lstStyle>
          <a:p>
            <a:pPr>
              <a:defRPr sz="1800" b="0">
                <a:solidFill>
                  <a:srgbClr val="1C65A0"/>
                </a:solidFill>
                <a:latin typeface="Arial"/>
                <a:ea typeface="Arial"/>
                <a:cs typeface="Arial"/>
              </a:defRPr>
            </a:pPr>
            <a:r>
              <a:rPr sz="1800" b="0">
                <a:solidFill>
                  <a:srgbClr val="1C65A0"/>
                </a:solidFill>
                <a:latin typeface="Arial"/>
                <a:ea typeface="Arial"/>
                <a:cs typeface="Arial"/>
                <a:hlinkClick r:id="rId3"/>
              </a:rPr>
              <a:t>Open circuit in Tinkercad</a:t>
            </a:r>
          </a:p>
        </p:txBody>
      </p:sp>
      <p:pic>
        <p:nvPicPr>
          <p:cNvPr id="4" name="Picture 3">
            <a:extLst>
              <a:ext uri="{FF2B5EF4-FFF2-40B4-BE49-F238E27FC236}">
                <a16:creationId xmlns:a16="http://schemas.microsoft.com/office/drawing/2014/main" id="{D01AE099-A1A2-4D8F-AFB2-75D9BACB7EFB}"/>
              </a:ext>
            </a:extLst>
          </p:cNvPr>
          <p:cNvPicPr>
            <a:picLocks noChangeAspect="1"/>
          </p:cNvPicPr>
          <p:nvPr/>
        </p:nvPicPr>
        <p:blipFill>
          <a:blip r:embed="rId4"/>
          <a:stretch/>
        </p:blipFill>
        <p:spPr>
          <a:xfrm>
            <a:off x="609600" y="1712220"/>
            <a:ext cx="10972800" cy="3900284"/>
          </a:xfrm>
          <a:prstGeom prst="rect">
            <a:avLst/>
          </a:prstGeom>
        </p:spPr>
      </p:pic>
    </p:spTree>
    <p:extLst>
      <p:ext uri="{BB962C8B-B14F-4D97-AF65-F5344CB8AC3E}">
        <p14:creationId xmlns:p14="http://schemas.microsoft.com/office/powerpoint/2010/main" val="4475210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D54407A9-5BCA-4A14-A689-5291518DAA71}"/>
              </a:ext>
            </a:extLst>
          </p:cNvPr>
          <p:cNvSpPr>
            <a:spLocks noGrp="1"/>
          </p:cNvSpPr>
          <p:nvPr/>
        </p:nvSpPr>
        <p:spPr>
          <a:xfrm>
            <a:off x="609600" y="476250"/>
            <a:ext cx="10668000" cy="666750"/>
          </a:xfrm>
          <a:prstGeom prst="rect">
            <a:avLst/>
          </a:prstGeom>
          <a:noFill/>
          <a:ln w="0">
            <a:noFill/>
          </a:ln>
        </p:spPr>
        <p:txBody>
          <a:bodyPr/>
          <a:lstStyle>
            <a:defPPr>
              <a:defRPr sz="3600" b="1">
                <a:solidFill>
                  <a:srgbClr val="26313B"/>
                </a:solidFill>
                <a:latin typeface="Arial"/>
                <a:ea typeface="Arial"/>
                <a:cs typeface="Arial"/>
              </a:defRPr>
            </a:defPPr>
          </a:lstStyle>
          <a:p>
            <a:pPr>
              <a:defRPr sz="3600" b="1">
                <a:solidFill>
                  <a:srgbClr val="26313B"/>
                </a:solidFill>
                <a:latin typeface="Arial"/>
                <a:ea typeface="Arial"/>
                <a:cs typeface="Arial"/>
              </a:defRPr>
            </a:pPr>
            <a:r>
              <a:rPr sz="3600" b="1">
                <a:solidFill>
                  <a:srgbClr val="26313B"/>
                </a:solidFill>
                <a:latin typeface="Arial"/>
                <a:ea typeface="Arial"/>
                <a:cs typeface="Arial"/>
              </a:rPr>
              <a:t>Invalid</a:t>
            </a:r>
          </a:p>
        </p:txBody>
      </p:sp>
      <p:sp>
        <p:nvSpPr>
          <p:cNvPr id="2" name="Rectangle 1">
            <a:extLst>
              <a:ext uri="{FF2B5EF4-FFF2-40B4-BE49-F238E27FC236}">
                <a16:creationId xmlns:a16="http://schemas.microsoft.com/office/drawing/2014/main" id="{6DF88D90-0A76-4036-9A63-F8F6C05E89DE}"/>
              </a:ext>
            </a:extLst>
          </p:cNvPr>
          <p:cNvSpPr>
            <a:spLocks noGrp="1"/>
          </p:cNvSpPr>
          <p:nvPr/>
        </p:nvSpPr>
        <p:spPr>
          <a:xfrm>
            <a:off x="11049000" y="6362700"/>
            <a:ext cx="533400" cy="228600"/>
          </a:xfrm>
          <a:prstGeom prst="rect">
            <a:avLst/>
          </a:prstGeom>
          <a:noFill/>
          <a:ln w="0">
            <a:noFill/>
          </a:ln>
        </p:spPr>
        <p:txBody>
          <a:bodyPr/>
          <a:lstStyle>
            <a:defPPr>
              <a:defRPr sz="1350" b="0">
                <a:solidFill>
                  <a:srgbClr val="73818C"/>
                </a:solidFill>
                <a:latin typeface="Arial"/>
                <a:ea typeface="Arial"/>
                <a:cs typeface="Arial"/>
              </a:defRPr>
            </a:defPPr>
          </a:lstStyle>
          <a:p>
            <a:pPr>
              <a:defRPr sz="1350" b="0">
                <a:solidFill>
                  <a:srgbClr val="73818C"/>
                </a:solidFill>
                <a:latin typeface="Arial"/>
                <a:ea typeface="Arial"/>
                <a:cs typeface="Arial"/>
              </a:defRPr>
            </a:pPr>
            <a:r>
              <a:rPr sz="1350" b="0">
                <a:solidFill>
                  <a:srgbClr val="73818C"/>
                </a:solidFill>
                <a:latin typeface="Arial"/>
                <a:ea typeface="Arial"/>
                <a:cs typeface="Arial"/>
              </a:rPr>
              <a:t>09</a:t>
            </a:r>
          </a:p>
        </p:txBody>
      </p:sp>
      <p:sp>
        <p:nvSpPr>
          <p:cNvPr id="3" name="tinkercad-link">
            <a:extLst>
              <a:ext uri="{FF2B5EF4-FFF2-40B4-BE49-F238E27FC236}">
                <a16:creationId xmlns:a16="http://schemas.microsoft.com/office/drawing/2014/main" id="{0D8F0FE1-4A05-45AD-AA3C-EAD6E30B4F22}"/>
              </a:ext>
            </a:extLst>
          </p:cNvPr>
          <p:cNvSpPr>
            <a:spLocks noGrp="1"/>
          </p:cNvSpPr>
          <p:nvPr/>
        </p:nvSpPr>
        <p:spPr>
          <a:xfrm>
            <a:off x="609600" y="6162675"/>
            <a:ext cx="6858000" cy="400050"/>
          </a:xfrm>
          <a:prstGeom prst="rect">
            <a:avLst/>
          </a:prstGeom>
          <a:noFill/>
          <a:ln w="0">
            <a:noFill/>
          </a:ln>
        </p:spPr>
        <p:txBody>
          <a:bodyPr/>
          <a:lstStyle>
            <a:defPPr>
              <a:defRPr sz="1800" b="0">
                <a:solidFill>
                  <a:srgbClr val="1C65A0"/>
                </a:solidFill>
                <a:latin typeface="Arial"/>
                <a:ea typeface="Arial"/>
                <a:cs typeface="Arial"/>
              </a:defRPr>
            </a:defPPr>
          </a:lstStyle>
          <a:p>
            <a:pPr>
              <a:defRPr sz="1800" b="0">
                <a:solidFill>
                  <a:srgbClr val="1C65A0"/>
                </a:solidFill>
                <a:latin typeface="Arial"/>
                <a:ea typeface="Arial"/>
                <a:cs typeface="Arial"/>
              </a:defRPr>
            </a:pPr>
            <a:r>
              <a:rPr sz="1800" b="0">
                <a:solidFill>
                  <a:srgbClr val="1C65A0"/>
                </a:solidFill>
                <a:latin typeface="Arial"/>
                <a:ea typeface="Arial"/>
                <a:cs typeface="Arial"/>
                <a:hlinkClick r:id="rId3"/>
              </a:rPr>
              <a:t>Open circuit in Tinkercad</a:t>
            </a:r>
          </a:p>
        </p:txBody>
      </p:sp>
      <p:sp>
        <p:nvSpPr>
          <p:cNvPr id="4" name="Rectangle 3">
            <a:extLst>
              <a:ext uri="{FF2B5EF4-FFF2-40B4-BE49-F238E27FC236}">
                <a16:creationId xmlns:a16="http://schemas.microsoft.com/office/drawing/2014/main" id="{DC0C1CED-CF59-402F-988D-9A75BC17E8A3}"/>
              </a:ext>
            </a:extLst>
          </p:cNvPr>
          <p:cNvSpPr>
            <a:spLocks noGrp="1"/>
          </p:cNvSpPr>
          <p:nvPr/>
        </p:nvSpPr>
        <p:spPr>
          <a:xfrm>
            <a:off x="609600" y="1685925"/>
            <a:ext cx="5429250" cy="809625"/>
          </a:xfrm>
          <a:prstGeom prst="rect">
            <a:avLst/>
          </a:prstGeom>
          <a:noFill/>
          <a:ln w="0">
            <a:noFill/>
          </a:ln>
        </p:spPr>
        <p:txBody>
          <a:bodyPr/>
          <a:lstStyle>
            <a:defPPr>
              <a:defRPr sz="2475" b="1">
                <a:solidFill>
                  <a:srgbClr val="26313B"/>
                </a:solidFill>
                <a:latin typeface="Arial"/>
                <a:ea typeface="Arial"/>
                <a:cs typeface="Arial"/>
              </a:defRPr>
            </a:defPPr>
          </a:lstStyle>
          <a:p>
            <a:pPr>
              <a:defRPr sz="2475" b="1">
                <a:solidFill>
                  <a:srgbClr val="26313B"/>
                </a:solidFill>
                <a:latin typeface="Arial"/>
                <a:ea typeface="Arial"/>
                <a:cs typeface="Arial"/>
              </a:defRPr>
            </a:pPr>
            <a:r>
              <a:rPr sz="2475" b="1">
                <a:solidFill>
                  <a:srgbClr val="26313B"/>
                </a:solidFill>
                <a:latin typeface="Arial"/>
                <a:ea typeface="Arial"/>
                <a:cs typeface="Arial"/>
              </a:rPr>
              <a:t>The jumper misses the resistor</a:t>
            </a:r>
          </a:p>
        </p:txBody>
      </p:sp>
      <p:sp>
        <p:nvSpPr>
          <p:cNvPr id="5" name="Rectangle 4">
            <a:extLst>
              <a:ext uri="{FF2B5EF4-FFF2-40B4-BE49-F238E27FC236}">
                <a16:creationId xmlns:a16="http://schemas.microsoft.com/office/drawing/2014/main" id="{CAB842B1-F1D2-4574-A400-D29A7C57C390}"/>
              </a:ext>
            </a:extLst>
          </p:cNvPr>
          <p:cNvSpPr>
            <a:spLocks noGrp="1"/>
          </p:cNvSpPr>
          <p:nvPr/>
        </p:nvSpPr>
        <p:spPr>
          <a:xfrm>
            <a:off x="609600" y="2638425"/>
            <a:ext cx="5334000" cy="1200150"/>
          </a:xfrm>
          <a:prstGeom prst="rect">
            <a:avLst/>
          </a:prstGeom>
          <a:noFill/>
          <a:ln w="0">
            <a:noFill/>
          </a:ln>
        </p:spPr>
        <p:txBody>
          <a:bodyPr/>
          <a:lstStyle>
            <a:defPPr>
              <a:defRPr sz="2250" b="0">
                <a:solidFill>
                  <a:srgbClr val="26313B"/>
                </a:solidFill>
                <a:latin typeface="Arial"/>
                <a:ea typeface="Arial"/>
                <a:cs typeface="Arial"/>
              </a:defRPr>
            </a:defPPr>
          </a:lstStyle>
          <a:p>
            <a:pPr>
              <a:defRPr sz="2250" b="0">
                <a:solidFill>
                  <a:srgbClr val="26313B"/>
                </a:solidFill>
                <a:latin typeface="Arial"/>
                <a:ea typeface="Arial"/>
                <a:cs typeface="Arial"/>
              </a:defRPr>
            </a:pPr>
            <a:r>
              <a:rPr sz="2250" b="0">
                <a:solidFill>
                  <a:srgbClr val="26313B"/>
                </a:solidFill>
                <a:latin typeface="Arial"/>
                <a:ea typeface="Arial"/>
                <a:cs typeface="Arial"/>
              </a:rPr>
              <a:t>h21 and j20 belong to different connected strips. The circuit is open.</a:t>
            </a:r>
          </a:p>
        </p:txBody>
      </p:sp>
      <p:sp>
        <p:nvSpPr>
          <p:cNvPr id="6" name="Rectangle 5">
            <a:extLst>
              <a:ext uri="{FF2B5EF4-FFF2-40B4-BE49-F238E27FC236}">
                <a16:creationId xmlns:a16="http://schemas.microsoft.com/office/drawing/2014/main" id="{36BA2B34-8308-4C54-87EA-0D7C76857A8D}"/>
              </a:ext>
            </a:extLst>
          </p:cNvPr>
          <p:cNvSpPr>
            <a:spLocks noGrp="1"/>
          </p:cNvSpPr>
          <p:nvPr/>
        </p:nvSpPr>
        <p:spPr>
          <a:xfrm>
            <a:off x="609600" y="4143375"/>
            <a:ext cx="5238750" cy="381000"/>
          </a:xfrm>
          <a:prstGeom prst="rect">
            <a:avLst/>
          </a:prstGeom>
          <a:noFill/>
          <a:ln w="0">
            <a:noFill/>
          </a:ln>
        </p:spPr>
        <p:txBody>
          <a:bodyPr/>
          <a:lstStyle>
            <a:defPPr>
              <a:defRPr sz="2025" b="1">
                <a:solidFill>
                  <a:srgbClr val="26313B"/>
                </a:solidFill>
                <a:latin typeface="Arial"/>
                <a:ea typeface="Arial"/>
                <a:cs typeface="Arial"/>
              </a:defRPr>
            </a:defPPr>
          </a:lstStyle>
          <a:p>
            <a:pPr>
              <a:defRPr sz="2025" b="1">
                <a:solidFill>
                  <a:srgbClr val="26313B"/>
                </a:solidFill>
                <a:latin typeface="Arial"/>
                <a:ea typeface="Arial"/>
                <a:cs typeface="Arial"/>
              </a:defRPr>
            </a:pPr>
            <a:r>
              <a:rPr sz="2025" b="1">
                <a:solidFill>
                  <a:srgbClr val="26313B"/>
                </a:solidFill>
                <a:latin typeface="Arial"/>
                <a:ea typeface="Arial"/>
                <a:cs typeface="Arial"/>
              </a:rPr>
              <a:t>One-step fix</a:t>
            </a:r>
          </a:p>
        </p:txBody>
      </p:sp>
      <p:sp>
        <p:nvSpPr>
          <p:cNvPr id="7" name="Rectangle 6">
            <a:extLst>
              <a:ext uri="{FF2B5EF4-FFF2-40B4-BE49-F238E27FC236}">
                <a16:creationId xmlns:a16="http://schemas.microsoft.com/office/drawing/2014/main" id="{37E6E03B-0AF7-417E-BE7E-21F9EAF6636F}"/>
              </a:ext>
            </a:extLst>
          </p:cNvPr>
          <p:cNvSpPr>
            <a:spLocks noGrp="1"/>
          </p:cNvSpPr>
          <p:nvPr/>
        </p:nvSpPr>
        <p:spPr>
          <a:xfrm>
            <a:off x="609600" y="4657725"/>
            <a:ext cx="5334000" cy="1285875"/>
          </a:xfrm>
          <a:prstGeom prst="rect">
            <a:avLst/>
          </a:prstGeom>
          <a:noFill/>
          <a:ln w="0">
            <a:noFill/>
          </a:ln>
        </p:spPr>
        <p:txBody>
          <a:bodyPr/>
          <a:lstStyle>
            <a:defPPr>
              <a:defRPr sz="2250" b="0">
                <a:solidFill>
                  <a:srgbClr val="26313B"/>
                </a:solidFill>
                <a:latin typeface="Arial"/>
                <a:ea typeface="Arial"/>
                <a:cs typeface="Arial"/>
              </a:defRPr>
            </a:defPPr>
          </a:lstStyle>
          <a:p>
            <a:pPr>
              <a:defRPr sz="2250" b="0">
                <a:solidFill>
                  <a:srgbClr val="26313B"/>
                </a:solidFill>
                <a:latin typeface="Arial"/>
                <a:ea typeface="Arial"/>
                <a:cs typeface="Arial"/>
              </a:defRPr>
            </a:pPr>
            <a:r>
              <a:rPr sz="2250" b="0">
                <a:solidFill>
                  <a:srgbClr val="26313B"/>
                </a:solidFill>
                <a:latin typeface="Arial"/>
                <a:ea typeface="Arial"/>
                <a:cs typeface="Arial"/>
              </a:rPr>
              <a:t>Move the right end of the green jumper from h21 to h20.</a:t>
            </a:r>
          </a:p>
        </p:txBody>
      </p:sp>
      <p:pic>
        <p:nvPicPr>
          <p:cNvPr id="8" name="Picture 7">
            <a:extLst>
              <a:ext uri="{FF2B5EF4-FFF2-40B4-BE49-F238E27FC236}">
                <a16:creationId xmlns:a16="http://schemas.microsoft.com/office/drawing/2014/main" id="{05137671-6C7A-43C9-8862-4BEFE78A7BC9}"/>
              </a:ext>
            </a:extLst>
          </p:cNvPr>
          <p:cNvPicPr>
            <a:picLocks noChangeAspect="1"/>
          </p:cNvPicPr>
          <p:nvPr/>
        </p:nvPicPr>
        <p:blipFill>
          <a:blip r:embed="rId4"/>
          <a:stretch/>
        </p:blipFill>
        <p:spPr>
          <a:xfrm>
            <a:off x="7215188" y="1571625"/>
            <a:ext cx="3095625" cy="4333875"/>
          </a:xfrm>
          <a:prstGeom prst="rect">
            <a:avLst/>
          </a:prstGeom>
        </p:spPr>
      </p:pic>
    </p:spTree>
    <p:extLst>
      <p:ext uri="{BB962C8B-B14F-4D97-AF65-F5344CB8AC3E}">
        <p14:creationId xmlns:p14="http://schemas.microsoft.com/office/powerpoint/2010/main" val="3838762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583D582-0BD1-4ECF-B9A8-76EE4B2BE96B}"/>
              </a:ext>
            </a:extLst>
          </p:cNvPr>
          <p:cNvSpPr>
            <a:spLocks noGrp="1"/>
          </p:cNvSpPr>
          <p:nvPr/>
        </p:nvSpPr>
        <p:spPr>
          <a:xfrm>
            <a:off x="609600" y="476250"/>
            <a:ext cx="10668000" cy="666750"/>
          </a:xfrm>
          <a:prstGeom prst="rect">
            <a:avLst/>
          </a:prstGeom>
          <a:noFill/>
          <a:ln w="0">
            <a:noFill/>
          </a:ln>
        </p:spPr>
        <p:txBody>
          <a:bodyPr/>
          <a:lstStyle>
            <a:defPPr>
              <a:defRPr sz="3600" b="1">
                <a:solidFill>
                  <a:srgbClr val="26313B"/>
                </a:solidFill>
                <a:latin typeface="Arial"/>
                <a:ea typeface="Arial"/>
                <a:cs typeface="Arial"/>
              </a:defRPr>
            </a:defPPr>
          </a:lstStyle>
          <a:p>
            <a:pPr>
              <a:defRPr sz="3600" b="1">
                <a:solidFill>
                  <a:srgbClr val="26313B"/>
                </a:solidFill>
                <a:latin typeface="Arial"/>
                <a:ea typeface="Arial"/>
                <a:cs typeface="Arial"/>
              </a:defRPr>
            </a:pPr>
            <a:r>
              <a:rPr sz="3600" b="1">
                <a:solidFill>
                  <a:srgbClr val="26313B"/>
                </a:solidFill>
                <a:latin typeface="Arial"/>
                <a:ea typeface="Arial"/>
                <a:cs typeface="Arial"/>
              </a:rPr>
              <a:t>Is this circuit valid?</a:t>
            </a:r>
          </a:p>
        </p:txBody>
      </p:sp>
      <p:sp>
        <p:nvSpPr>
          <p:cNvPr id="2" name="Rectangle 1">
            <a:extLst>
              <a:ext uri="{FF2B5EF4-FFF2-40B4-BE49-F238E27FC236}">
                <a16:creationId xmlns:a16="http://schemas.microsoft.com/office/drawing/2014/main" id="{32EA8BAD-57E5-4595-BB4C-47C4344D72DB}"/>
              </a:ext>
            </a:extLst>
          </p:cNvPr>
          <p:cNvSpPr>
            <a:spLocks noGrp="1"/>
          </p:cNvSpPr>
          <p:nvPr/>
        </p:nvSpPr>
        <p:spPr>
          <a:xfrm>
            <a:off x="11049000" y="6362700"/>
            <a:ext cx="533400" cy="228600"/>
          </a:xfrm>
          <a:prstGeom prst="rect">
            <a:avLst/>
          </a:prstGeom>
          <a:noFill/>
          <a:ln w="0">
            <a:noFill/>
          </a:ln>
        </p:spPr>
        <p:txBody>
          <a:bodyPr/>
          <a:lstStyle>
            <a:defPPr>
              <a:defRPr sz="1350" b="0">
                <a:solidFill>
                  <a:srgbClr val="73818C"/>
                </a:solidFill>
                <a:latin typeface="Arial"/>
                <a:ea typeface="Arial"/>
                <a:cs typeface="Arial"/>
              </a:defRPr>
            </a:defPPr>
          </a:lstStyle>
          <a:p>
            <a:pPr>
              <a:defRPr sz="1350" b="0">
                <a:solidFill>
                  <a:srgbClr val="73818C"/>
                </a:solidFill>
                <a:latin typeface="Arial"/>
                <a:ea typeface="Arial"/>
                <a:cs typeface="Arial"/>
              </a:defRPr>
            </a:pPr>
            <a:r>
              <a:rPr sz="1350" b="0">
                <a:solidFill>
                  <a:srgbClr val="73818C"/>
                </a:solidFill>
                <a:latin typeface="Arial"/>
                <a:ea typeface="Arial"/>
                <a:cs typeface="Arial"/>
              </a:rPr>
              <a:t>10</a:t>
            </a:r>
          </a:p>
        </p:txBody>
      </p:sp>
      <p:sp>
        <p:nvSpPr>
          <p:cNvPr id="3" name="tinkercad-link">
            <a:extLst>
              <a:ext uri="{FF2B5EF4-FFF2-40B4-BE49-F238E27FC236}">
                <a16:creationId xmlns:a16="http://schemas.microsoft.com/office/drawing/2014/main" id="{966240C4-90FC-4686-995D-0EF208AEDBBF}"/>
              </a:ext>
            </a:extLst>
          </p:cNvPr>
          <p:cNvSpPr>
            <a:spLocks noGrp="1"/>
          </p:cNvSpPr>
          <p:nvPr/>
        </p:nvSpPr>
        <p:spPr>
          <a:xfrm>
            <a:off x="609600" y="6162675"/>
            <a:ext cx="6858000" cy="400050"/>
          </a:xfrm>
          <a:prstGeom prst="rect">
            <a:avLst/>
          </a:prstGeom>
          <a:noFill/>
          <a:ln w="0">
            <a:noFill/>
          </a:ln>
        </p:spPr>
        <p:txBody>
          <a:bodyPr/>
          <a:lstStyle>
            <a:defPPr>
              <a:defRPr sz="1800" b="0">
                <a:solidFill>
                  <a:srgbClr val="1C65A0"/>
                </a:solidFill>
                <a:latin typeface="Arial"/>
                <a:ea typeface="Arial"/>
                <a:cs typeface="Arial"/>
              </a:defRPr>
            </a:defPPr>
          </a:lstStyle>
          <a:p>
            <a:pPr>
              <a:defRPr sz="1800" b="0">
                <a:solidFill>
                  <a:srgbClr val="1C65A0"/>
                </a:solidFill>
                <a:latin typeface="Arial"/>
                <a:ea typeface="Arial"/>
                <a:cs typeface="Arial"/>
              </a:defRPr>
            </a:pPr>
            <a:r>
              <a:rPr sz="1800" b="0">
                <a:solidFill>
                  <a:srgbClr val="1C65A0"/>
                </a:solidFill>
                <a:latin typeface="Arial"/>
                <a:ea typeface="Arial"/>
                <a:cs typeface="Arial"/>
                <a:hlinkClick r:id="rId3"/>
              </a:rPr>
              <a:t>Open circuit in Tinkercad</a:t>
            </a:r>
          </a:p>
        </p:txBody>
      </p:sp>
      <p:pic>
        <p:nvPicPr>
          <p:cNvPr id="4" name="Picture 3">
            <a:extLst>
              <a:ext uri="{FF2B5EF4-FFF2-40B4-BE49-F238E27FC236}">
                <a16:creationId xmlns:a16="http://schemas.microsoft.com/office/drawing/2014/main" id="{8C26A660-B216-4F6D-BA14-D5EC48A85BF1}"/>
              </a:ext>
            </a:extLst>
          </p:cNvPr>
          <p:cNvPicPr>
            <a:picLocks noChangeAspect="1"/>
          </p:cNvPicPr>
          <p:nvPr/>
        </p:nvPicPr>
        <p:blipFill>
          <a:blip r:embed="rId4"/>
          <a:stretch/>
        </p:blipFill>
        <p:spPr>
          <a:xfrm>
            <a:off x="609600" y="1712220"/>
            <a:ext cx="10972800" cy="3900284"/>
          </a:xfrm>
          <a:prstGeom prst="rect">
            <a:avLst/>
          </a:prstGeom>
        </p:spPr>
      </p:pic>
    </p:spTree>
    <p:extLst>
      <p:ext uri="{BB962C8B-B14F-4D97-AF65-F5344CB8AC3E}">
        <p14:creationId xmlns:p14="http://schemas.microsoft.com/office/powerpoint/2010/main" val="21370196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DA7E5B09-257B-49C0-AC7D-CEECE200EF13}"/>
              </a:ext>
            </a:extLst>
          </p:cNvPr>
          <p:cNvSpPr>
            <a:spLocks noGrp="1"/>
          </p:cNvSpPr>
          <p:nvPr/>
        </p:nvSpPr>
        <p:spPr>
          <a:xfrm>
            <a:off x="609600" y="476250"/>
            <a:ext cx="10668000" cy="666750"/>
          </a:xfrm>
          <a:prstGeom prst="rect">
            <a:avLst/>
          </a:prstGeom>
          <a:noFill/>
          <a:ln w="0">
            <a:noFill/>
          </a:ln>
        </p:spPr>
        <p:txBody>
          <a:bodyPr/>
          <a:lstStyle>
            <a:defPPr>
              <a:defRPr sz="3600" b="1">
                <a:solidFill>
                  <a:srgbClr val="26313B"/>
                </a:solidFill>
                <a:latin typeface="Arial"/>
                <a:ea typeface="Arial"/>
                <a:cs typeface="Arial"/>
              </a:defRPr>
            </a:defPPr>
          </a:lstStyle>
          <a:p>
            <a:pPr>
              <a:defRPr sz="3600" b="1">
                <a:solidFill>
                  <a:srgbClr val="26313B"/>
                </a:solidFill>
                <a:latin typeface="Arial"/>
                <a:ea typeface="Arial"/>
                <a:cs typeface="Arial"/>
              </a:defRPr>
            </a:pPr>
            <a:r>
              <a:rPr sz="3600" b="1">
                <a:solidFill>
                  <a:srgbClr val="26313B"/>
                </a:solidFill>
                <a:latin typeface="Arial"/>
                <a:ea typeface="Arial"/>
                <a:cs typeface="Arial"/>
              </a:rPr>
              <a:t>Invalid</a:t>
            </a:r>
          </a:p>
        </p:txBody>
      </p:sp>
      <p:sp>
        <p:nvSpPr>
          <p:cNvPr id="2" name="Rectangle 1">
            <a:extLst>
              <a:ext uri="{FF2B5EF4-FFF2-40B4-BE49-F238E27FC236}">
                <a16:creationId xmlns:a16="http://schemas.microsoft.com/office/drawing/2014/main" id="{8781603A-A33C-43A9-8DF6-97FBF570F246}"/>
              </a:ext>
            </a:extLst>
          </p:cNvPr>
          <p:cNvSpPr>
            <a:spLocks noGrp="1"/>
          </p:cNvSpPr>
          <p:nvPr/>
        </p:nvSpPr>
        <p:spPr>
          <a:xfrm>
            <a:off x="11049000" y="6362700"/>
            <a:ext cx="533400" cy="228600"/>
          </a:xfrm>
          <a:prstGeom prst="rect">
            <a:avLst/>
          </a:prstGeom>
          <a:noFill/>
          <a:ln w="0">
            <a:noFill/>
          </a:ln>
        </p:spPr>
        <p:txBody>
          <a:bodyPr/>
          <a:lstStyle>
            <a:defPPr>
              <a:defRPr sz="1350" b="0">
                <a:solidFill>
                  <a:srgbClr val="73818C"/>
                </a:solidFill>
                <a:latin typeface="Arial"/>
                <a:ea typeface="Arial"/>
                <a:cs typeface="Arial"/>
              </a:defRPr>
            </a:defPPr>
          </a:lstStyle>
          <a:p>
            <a:pPr>
              <a:defRPr sz="1350" b="0">
                <a:solidFill>
                  <a:srgbClr val="73818C"/>
                </a:solidFill>
                <a:latin typeface="Arial"/>
                <a:ea typeface="Arial"/>
                <a:cs typeface="Arial"/>
              </a:defRPr>
            </a:pPr>
            <a:r>
              <a:rPr sz="1350" b="0">
                <a:solidFill>
                  <a:srgbClr val="73818C"/>
                </a:solidFill>
                <a:latin typeface="Arial"/>
                <a:ea typeface="Arial"/>
                <a:cs typeface="Arial"/>
              </a:rPr>
              <a:t>11</a:t>
            </a:r>
          </a:p>
        </p:txBody>
      </p:sp>
      <p:sp>
        <p:nvSpPr>
          <p:cNvPr id="3" name="tinkercad-link">
            <a:extLst>
              <a:ext uri="{FF2B5EF4-FFF2-40B4-BE49-F238E27FC236}">
                <a16:creationId xmlns:a16="http://schemas.microsoft.com/office/drawing/2014/main" id="{5CD2DD26-FD51-4223-B08D-CF7E67AFE8AF}"/>
              </a:ext>
            </a:extLst>
          </p:cNvPr>
          <p:cNvSpPr>
            <a:spLocks noGrp="1"/>
          </p:cNvSpPr>
          <p:nvPr/>
        </p:nvSpPr>
        <p:spPr>
          <a:xfrm>
            <a:off x="609600" y="6162675"/>
            <a:ext cx="6858000" cy="400050"/>
          </a:xfrm>
          <a:prstGeom prst="rect">
            <a:avLst/>
          </a:prstGeom>
          <a:noFill/>
          <a:ln w="0">
            <a:noFill/>
          </a:ln>
        </p:spPr>
        <p:txBody>
          <a:bodyPr/>
          <a:lstStyle>
            <a:defPPr>
              <a:defRPr sz="1800" b="0">
                <a:solidFill>
                  <a:srgbClr val="1C65A0"/>
                </a:solidFill>
                <a:latin typeface="Arial"/>
                <a:ea typeface="Arial"/>
                <a:cs typeface="Arial"/>
              </a:defRPr>
            </a:defPPr>
          </a:lstStyle>
          <a:p>
            <a:pPr>
              <a:defRPr sz="1800" b="0">
                <a:solidFill>
                  <a:srgbClr val="1C65A0"/>
                </a:solidFill>
                <a:latin typeface="Arial"/>
                <a:ea typeface="Arial"/>
                <a:cs typeface="Arial"/>
              </a:defRPr>
            </a:pPr>
            <a:r>
              <a:rPr sz="1800" b="0">
                <a:solidFill>
                  <a:srgbClr val="1C65A0"/>
                </a:solidFill>
                <a:latin typeface="Arial"/>
                <a:ea typeface="Arial"/>
                <a:cs typeface="Arial"/>
                <a:hlinkClick r:id="rId3"/>
              </a:rPr>
              <a:t>Open circuit in Tinkercad</a:t>
            </a:r>
          </a:p>
        </p:txBody>
      </p:sp>
      <p:sp>
        <p:nvSpPr>
          <p:cNvPr id="4" name="Rectangle 3">
            <a:extLst>
              <a:ext uri="{FF2B5EF4-FFF2-40B4-BE49-F238E27FC236}">
                <a16:creationId xmlns:a16="http://schemas.microsoft.com/office/drawing/2014/main" id="{8F874292-00ED-4CA6-BAD6-294B3712BAF9}"/>
              </a:ext>
            </a:extLst>
          </p:cNvPr>
          <p:cNvSpPr>
            <a:spLocks noGrp="1"/>
          </p:cNvSpPr>
          <p:nvPr/>
        </p:nvSpPr>
        <p:spPr>
          <a:xfrm>
            <a:off x="609600" y="1685925"/>
            <a:ext cx="5810250" cy="904875"/>
          </a:xfrm>
          <a:prstGeom prst="rect">
            <a:avLst/>
          </a:prstGeom>
          <a:noFill/>
          <a:ln w="0">
            <a:noFill/>
          </a:ln>
        </p:spPr>
        <p:txBody>
          <a:bodyPr/>
          <a:lstStyle>
            <a:defPPr>
              <a:defRPr sz="2475" b="1">
                <a:solidFill>
                  <a:srgbClr val="26313B"/>
                </a:solidFill>
                <a:latin typeface="Arial"/>
                <a:ea typeface="Arial"/>
                <a:cs typeface="Arial"/>
              </a:defRPr>
            </a:defPPr>
          </a:lstStyle>
          <a:p>
            <a:pPr>
              <a:defRPr sz="2475" b="1">
                <a:solidFill>
                  <a:srgbClr val="26313B"/>
                </a:solidFill>
                <a:latin typeface="Arial"/>
                <a:ea typeface="Arial"/>
                <a:cs typeface="Arial"/>
              </a:defRPr>
            </a:pPr>
            <a:r>
              <a:rPr sz="2475" b="1">
                <a:solidFill>
                  <a:srgbClr val="26313B"/>
                </a:solidFill>
                <a:latin typeface="Arial"/>
                <a:ea typeface="Arial"/>
                <a:cs typeface="Arial"/>
              </a:rPr>
              <a:t>The diagonal wire bypasses the resistor</a:t>
            </a:r>
          </a:p>
        </p:txBody>
      </p:sp>
      <p:sp>
        <p:nvSpPr>
          <p:cNvPr id="5" name="Rectangle 4">
            <a:extLst>
              <a:ext uri="{FF2B5EF4-FFF2-40B4-BE49-F238E27FC236}">
                <a16:creationId xmlns:a16="http://schemas.microsoft.com/office/drawing/2014/main" id="{B0093B94-22DB-4D90-9ABF-EAF29B63C783}"/>
              </a:ext>
            </a:extLst>
          </p:cNvPr>
          <p:cNvSpPr>
            <a:spLocks noGrp="1"/>
          </p:cNvSpPr>
          <p:nvPr/>
        </p:nvSpPr>
        <p:spPr>
          <a:xfrm>
            <a:off x="609600" y="2828925"/>
            <a:ext cx="5476875" cy="1285875"/>
          </a:xfrm>
          <a:prstGeom prst="rect">
            <a:avLst/>
          </a:prstGeom>
          <a:noFill/>
          <a:ln w="0">
            <a:noFill/>
          </a:ln>
        </p:spPr>
        <p:txBody>
          <a:bodyPr/>
          <a:lstStyle>
            <a:defPPr>
              <a:defRPr sz="2250" b="0">
                <a:solidFill>
                  <a:srgbClr val="26313B"/>
                </a:solidFill>
                <a:latin typeface="Arial"/>
                <a:ea typeface="Arial"/>
                <a:cs typeface="Arial"/>
              </a:defRPr>
            </a:defPPr>
          </a:lstStyle>
          <a:p>
            <a:pPr>
              <a:defRPr sz="2250" b="0">
                <a:solidFill>
                  <a:srgbClr val="26313B"/>
                </a:solidFill>
                <a:latin typeface="Arial"/>
                <a:ea typeface="Arial"/>
                <a:cs typeface="Arial"/>
              </a:defRPr>
            </a:pPr>
            <a:r>
              <a:rPr sz="2250" b="0">
                <a:solidFill>
                  <a:srgbClr val="26313B"/>
                </a:solidFill>
                <a:latin typeface="Arial"/>
                <a:ea typeface="Arial"/>
                <a:cs typeface="Arial"/>
              </a:rPr>
              <a:t>It connects the + rail directly to the LED’s row. The resistor cannot limit current.</a:t>
            </a:r>
          </a:p>
        </p:txBody>
      </p:sp>
      <p:sp>
        <p:nvSpPr>
          <p:cNvPr id="6" name="Rectangle 5">
            <a:extLst>
              <a:ext uri="{FF2B5EF4-FFF2-40B4-BE49-F238E27FC236}">
                <a16:creationId xmlns:a16="http://schemas.microsoft.com/office/drawing/2014/main" id="{FFF62512-5C63-434C-B118-CA6B956F3A6E}"/>
              </a:ext>
            </a:extLst>
          </p:cNvPr>
          <p:cNvSpPr>
            <a:spLocks noGrp="1"/>
          </p:cNvSpPr>
          <p:nvPr/>
        </p:nvSpPr>
        <p:spPr>
          <a:xfrm>
            <a:off x="609600" y="4333875"/>
            <a:ext cx="5238750" cy="381000"/>
          </a:xfrm>
          <a:prstGeom prst="rect">
            <a:avLst/>
          </a:prstGeom>
          <a:noFill/>
          <a:ln w="0">
            <a:noFill/>
          </a:ln>
        </p:spPr>
        <p:txBody>
          <a:bodyPr/>
          <a:lstStyle>
            <a:defPPr>
              <a:defRPr sz="2025" b="1">
                <a:solidFill>
                  <a:srgbClr val="26313B"/>
                </a:solidFill>
                <a:latin typeface="Arial"/>
                <a:ea typeface="Arial"/>
                <a:cs typeface="Arial"/>
              </a:defRPr>
            </a:defPPr>
          </a:lstStyle>
          <a:p>
            <a:pPr>
              <a:defRPr sz="2025" b="1">
                <a:solidFill>
                  <a:srgbClr val="26313B"/>
                </a:solidFill>
                <a:latin typeface="Arial"/>
                <a:ea typeface="Arial"/>
                <a:cs typeface="Arial"/>
              </a:defRPr>
            </a:pPr>
            <a:r>
              <a:rPr sz="2025" b="1">
                <a:solidFill>
                  <a:srgbClr val="26313B"/>
                </a:solidFill>
                <a:latin typeface="Arial"/>
                <a:ea typeface="Arial"/>
                <a:cs typeface="Arial"/>
              </a:rPr>
              <a:t>One-step fix</a:t>
            </a:r>
          </a:p>
        </p:txBody>
      </p:sp>
      <p:sp>
        <p:nvSpPr>
          <p:cNvPr id="7" name="Rectangle 6">
            <a:extLst>
              <a:ext uri="{FF2B5EF4-FFF2-40B4-BE49-F238E27FC236}">
                <a16:creationId xmlns:a16="http://schemas.microsoft.com/office/drawing/2014/main" id="{FA78020A-6A40-4CAA-A1A1-0B706098414A}"/>
              </a:ext>
            </a:extLst>
          </p:cNvPr>
          <p:cNvSpPr>
            <a:spLocks noGrp="1"/>
          </p:cNvSpPr>
          <p:nvPr/>
        </p:nvSpPr>
        <p:spPr>
          <a:xfrm>
            <a:off x="609600" y="4848225"/>
            <a:ext cx="5476875" cy="952500"/>
          </a:xfrm>
          <a:prstGeom prst="rect">
            <a:avLst/>
          </a:prstGeom>
          <a:noFill/>
          <a:ln w="0">
            <a:noFill/>
          </a:ln>
        </p:spPr>
        <p:txBody>
          <a:bodyPr/>
          <a:lstStyle>
            <a:defPPr>
              <a:defRPr sz="2250" b="0">
                <a:solidFill>
                  <a:srgbClr val="26313B"/>
                </a:solidFill>
                <a:latin typeface="Arial"/>
                <a:ea typeface="Arial"/>
                <a:cs typeface="Arial"/>
              </a:defRPr>
            </a:defPPr>
          </a:lstStyle>
          <a:p>
            <a:pPr>
              <a:defRPr sz="2250" b="0">
                <a:solidFill>
                  <a:srgbClr val="26313B"/>
                </a:solidFill>
                <a:latin typeface="Arial"/>
                <a:ea typeface="Arial"/>
                <a:cs typeface="Arial"/>
              </a:defRPr>
            </a:pPr>
            <a:r>
              <a:rPr sz="2250" b="0">
                <a:solidFill>
                  <a:srgbClr val="26313B"/>
                </a:solidFill>
                <a:latin typeface="Arial"/>
                <a:ea typeface="Arial"/>
                <a:cs typeface="Arial"/>
              </a:rPr>
              <a:t>Delete the diagonal green wire from +22 to g20.</a:t>
            </a:r>
          </a:p>
        </p:txBody>
      </p:sp>
      <p:pic>
        <p:nvPicPr>
          <p:cNvPr id="8" name="Picture 7">
            <a:extLst>
              <a:ext uri="{FF2B5EF4-FFF2-40B4-BE49-F238E27FC236}">
                <a16:creationId xmlns:a16="http://schemas.microsoft.com/office/drawing/2014/main" id="{29AAB9E8-0C37-4846-9800-5C72DB1987DA}"/>
              </a:ext>
            </a:extLst>
          </p:cNvPr>
          <p:cNvPicPr>
            <a:picLocks noChangeAspect="1"/>
          </p:cNvPicPr>
          <p:nvPr/>
        </p:nvPicPr>
        <p:blipFill>
          <a:blip r:embed="rId4"/>
          <a:stretch/>
        </p:blipFill>
        <p:spPr>
          <a:xfrm>
            <a:off x="7215188" y="1571625"/>
            <a:ext cx="3095625" cy="4333875"/>
          </a:xfrm>
          <a:prstGeom prst="rect">
            <a:avLst/>
          </a:prstGeom>
        </p:spPr>
      </p:pic>
    </p:spTree>
    <p:extLst>
      <p:ext uri="{BB962C8B-B14F-4D97-AF65-F5344CB8AC3E}">
        <p14:creationId xmlns:p14="http://schemas.microsoft.com/office/powerpoint/2010/main" val="13898819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E57154F-AFD5-4ED3-B7B7-F9348568B7C4}"/>
              </a:ext>
            </a:extLst>
          </p:cNvPr>
          <p:cNvSpPr>
            <a:spLocks noGrp="1"/>
          </p:cNvSpPr>
          <p:nvPr/>
        </p:nvSpPr>
        <p:spPr>
          <a:xfrm>
            <a:off x="609600" y="476250"/>
            <a:ext cx="10668000" cy="666750"/>
          </a:xfrm>
          <a:prstGeom prst="rect">
            <a:avLst/>
          </a:prstGeom>
          <a:noFill/>
          <a:ln w="0">
            <a:noFill/>
          </a:ln>
        </p:spPr>
        <p:txBody>
          <a:bodyPr/>
          <a:lstStyle>
            <a:defPPr>
              <a:defRPr sz="3600" b="1">
                <a:solidFill>
                  <a:srgbClr val="26313B"/>
                </a:solidFill>
                <a:latin typeface="Arial"/>
                <a:ea typeface="Arial"/>
                <a:cs typeface="Arial"/>
              </a:defRPr>
            </a:defPPr>
          </a:lstStyle>
          <a:p>
            <a:pPr>
              <a:defRPr sz="3600" b="1">
                <a:solidFill>
                  <a:srgbClr val="26313B"/>
                </a:solidFill>
                <a:latin typeface="Arial"/>
                <a:ea typeface="Arial"/>
                <a:cs typeface="Arial"/>
              </a:defRPr>
            </a:pPr>
            <a:r>
              <a:rPr sz="3600" b="1">
                <a:solidFill>
                  <a:srgbClr val="26313B"/>
                </a:solidFill>
                <a:latin typeface="Arial"/>
                <a:ea typeface="Arial"/>
                <a:cs typeface="Arial"/>
              </a:rPr>
              <a:t>Circuit 3: Reaction game</a:t>
            </a:r>
          </a:p>
        </p:txBody>
      </p:sp>
      <p:sp>
        <p:nvSpPr>
          <p:cNvPr id="2" name="Rectangle 1">
            <a:extLst>
              <a:ext uri="{FF2B5EF4-FFF2-40B4-BE49-F238E27FC236}">
                <a16:creationId xmlns:a16="http://schemas.microsoft.com/office/drawing/2014/main" id="{F41587CB-32AF-47D9-914C-CDDBD22A9BF1}"/>
              </a:ext>
            </a:extLst>
          </p:cNvPr>
          <p:cNvSpPr>
            <a:spLocks noGrp="1"/>
          </p:cNvSpPr>
          <p:nvPr/>
        </p:nvSpPr>
        <p:spPr>
          <a:xfrm>
            <a:off x="609600" y="1476375"/>
            <a:ext cx="7239000" cy="381000"/>
          </a:xfrm>
          <a:prstGeom prst="rect">
            <a:avLst/>
          </a:prstGeom>
          <a:noFill/>
          <a:ln w="0">
            <a:noFill/>
          </a:ln>
        </p:spPr>
        <p:txBody>
          <a:bodyPr/>
          <a:lstStyle>
            <a:defPPr>
              <a:defRPr sz="1875" b="1">
                <a:solidFill>
                  <a:srgbClr val="26313B"/>
                </a:solidFill>
                <a:latin typeface="Arial"/>
                <a:ea typeface="Arial"/>
                <a:cs typeface="Arial"/>
              </a:defRPr>
            </a:defPPr>
          </a:lstStyle>
          <a:p>
            <a:pPr>
              <a:defRPr sz="1875" b="1">
                <a:solidFill>
                  <a:srgbClr val="26313B"/>
                </a:solidFill>
                <a:latin typeface="Arial"/>
                <a:ea typeface="Arial"/>
                <a:cs typeface="Arial"/>
              </a:defRPr>
            </a:pPr>
            <a:r>
              <a:rPr sz="1875" b="1">
                <a:solidFill>
                  <a:srgbClr val="26313B"/>
                </a:solidFill>
                <a:latin typeface="Arial"/>
                <a:ea typeface="Arial"/>
                <a:cs typeface="Arial"/>
              </a:rPr>
              <a:t>Tinkercad</a:t>
            </a:r>
          </a:p>
        </p:txBody>
      </p:sp>
      <p:pic>
        <p:nvPicPr>
          <p:cNvPr id="3" name="Picture 2">
            <a:extLst>
              <a:ext uri="{FF2B5EF4-FFF2-40B4-BE49-F238E27FC236}">
                <a16:creationId xmlns:a16="http://schemas.microsoft.com/office/drawing/2014/main" id="{AE238559-8724-4854-8ED8-4EEADA7DABDB}"/>
              </a:ext>
            </a:extLst>
          </p:cNvPr>
          <p:cNvPicPr>
            <a:picLocks noChangeAspect="1"/>
          </p:cNvPicPr>
          <p:nvPr/>
        </p:nvPicPr>
        <p:blipFill>
          <a:blip r:embed="rId3"/>
          <a:stretch/>
        </p:blipFill>
        <p:spPr>
          <a:xfrm>
            <a:off x="1975459" y="1952625"/>
            <a:ext cx="8088682" cy="3905250"/>
          </a:xfrm>
          <a:prstGeom prst="rect">
            <a:avLst/>
          </a:prstGeom>
        </p:spPr>
      </p:pic>
      <p:sp>
        <p:nvSpPr>
          <p:cNvPr id="4" name="Rectangle 3">
            <a:extLst>
              <a:ext uri="{FF2B5EF4-FFF2-40B4-BE49-F238E27FC236}">
                <a16:creationId xmlns:a16="http://schemas.microsoft.com/office/drawing/2014/main" id="{DF8C29EE-802D-45A2-953F-BA5761718762}"/>
              </a:ext>
            </a:extLst>
          </p:cNvPr>
          <p:cNvSpPr>
            <a:spLocks noGrp="1"/>
          </p:cNvSpPr>
          <p:nvPr/>
        </p:nvSpPr>
        <p:spPr>
          <a:xfrm>
            <a:off x="609600" y="5905500"/>
            <a:ext cx="10382250" cy="333375"/>
          </a:xfrm>
          <a:prstGeom prst="rect">
            <a:avLst/>
          </a:prstGeom>
          <a:noFill/>
          <a:ln w="0">
            <a:noFill/>
          </a:ln>
        </p:spPr>
        <p:txBody>
          <a:bodyPr/>
          <a:lstStyle>
            <a:defPPr>
              <a:defRPr sz="1875" b="0">
                <a:solidFill>
                  <a:srgbClr val="26313B"/>
                </a:solidFill>
                <a:latin typeface="Arial"/>
                <a:ea typeface="Arial"/>
                <a:cs typeface="Arial"/>
              </a:defRPr>
            </a:defPPr>
          </a:lstStyle>
          <a:p>
            <a:pPr>
              <a:defRPr sz="1875" b="0">
                <a:solidFill>
                  <a:srgbClr val="26313B"/>
                </a:solidFill>
                <a:latin typeface="Arial"/>
                <a:ea typeface="Arial"/>
                <a:cs typeface="Arial"/>
              </a:defRPr>
            </a:pPr>
            <a:r>
              <a:rPr sz="1875" b="0">
                <a:solidFill>
                  <a:srgbClr val="26313B"/>
                </a:solidFill>
                <a:latin typeface="Arial"/>
                <a:ea typeface="Arial"/>
                <a:cs typeface="Arial"/>
              </a:rPr>
              <a:t>Wait for the signal. First LED wins.</a:t>
            </a:r>
          </a:p>
        </p:txBody>
      </p:sp>
      <p:sp>
        <p:nvSpPr>
          <p:cNvPr id="5" name="Rectangle 4">
            <a:extLst>
              <a:ext uri="{FF2B5EF4-FFF2-40B4-BE49-F238E27FC236}">
                <a16:creationId xmlns:a16="http://schemas.microsoft.com/office/drawing/2014/main" id="{430A78E7-C0CC-4433-B83C-1528B190CE40}"/>
              </a:ext>
            </a:extLst>
          </p:cNvPr>
          <p:cNvSpPr>
            <a:spLocks noGrp="1"/>
          </p:cNvSpPr>
          <p:nvPr/>
        </p:nvSpPr>
        <p:spPr>
          <a:xfrm>
            <a:off x="609600" y="6372225"/>
            <a:ext cx="8572500" cy="238125"/>
          </a:xfrm>
          <a:prstGeom prst="rect">
            <a:avLst/>
          </a:prstGeom>
          <a:noFill/>
          <a:ln w="0">
            <a:noFill/>
          </a:ln>
        </p:spPr>
        <p:txBody>
          <a:bodyPr/>
          <a:lstStyle>
            <a:defPPr>
              <a:defRPr sz="1500" b="0">
                <a:solidFill>
                  <a:srgbClr val="2366A6"/>
                </a:solidFill>
                <a:latin typeface="Arial"/>
                <a:ea typeface="Arial"/>
                <a:cs typeface="Arial"/>
              </a:defRPr>
            </a:defPPr>
          </a:lstStyle>
          <a:p>
            <a:pPr>
              <a:defRPr sz="1500" b="0">
                <a:solidFill>
                  <a:srgbClr val="2366A6"/>
                </a:solidFill>
                <a:latin typeface="Arial"/>
                <a:ea typeface="Arial"/>
                <a:cs typeface="Arial"/>
              </a:defRPr>
            </a:pPr>
            <a:r>
              <a:rPr sz="1500" b="0">
                <a:solidFill>
                  <a:srgbClr val="2366A6"/>
                </a:solidFill>
                <a:latin typeface="Arial"/>
                <a:ea typeface="Arial"/>
                <a:cs typeface="Arial"/>
                <a:hlinkClick r:id="rId4"/>
              </a:rPr>
              <a:t>Open circuit in Tinkercad</a:t>
            </a:r>
          </a:p>
        </p:txBody>
      </p:sp>
      <p:sp>
        <p:nvSpPr>
          <p:cNvPr id="6" name="Rectangle 5">
            <a:extLst>
              <a:ext uri="{FF2B5EF4-FFF2-40B4-BE49-F238E27FC236}">
                <a16:creationId xmlns:a16="http://schemas.microsoft.com/office/drawing/2014/main" id="{D162BBF7-92E9-4555-B2F1-8747713A2B05}"/>
              </a:ext>
            </a:extLst>
          </p:cNvPr>
          <p:cNvSpPr>
            <a:spLocks noGrp="1"/>
          </p:cNvSpPr>
          <p:nvPr/>
        </p:nvSpPr>
        <p:spPr>
          <a:xfrm>
            <a:off x="11049000" y="6362700"/>
            <a:ext cx="533400" cy="228600"/>
          </a:xfrm>
          <a:prstGeom prst="rect">
            <a:avLst/>
          </a:prstGeom>
          <a:noFill/>
          <a:ln w="0">
            <a:noFill/>
          </a:ln>
        </p:spPr>
        <p:txBody>
          <a:bodyPr/>
          <a:lstStyle>
            <a:defPPr>
              <a:defRPr sz="1350" b="0">
                <a:solidFill>
                  <a:srgbClr val="73818C"/>
                </a:solidFill>
                <a:latin typeface="Arial"/>
                <a:ea typeface="Arial"/>
                <a:cs typeface="Arial"/>
              </a:defRPr>
            </a:defPPr>
          </a:lstStyle>
          <a:p>
            <a:pPr>
              <a:defRPr sz="1350" b="0">
                <a:solidFill>
                  <a:srgbClr val="73818C"/>
                </a:solidFill>
                <a:latin typeface="Arial"/>
                <a:ea typeface="Arial"/>
                <a:cs typeface="Arial"/>
              </a:defRPr>
            </a:pPr>
            <a:r>
              <a:rPr sz="1350" b="0">
                <a:solidFill>
                  <a:srgbClr val="73818C"/>
                </a:solidFill>
                <a:latin typeface="Arial"/>
                <a:ea typeface="Arial"/>
                <a:cs typeface="Arial"/>
              </a:rPr>
              <a:t>06</a:t>
            </a:r>
          </a:p>
        </p:txBody>
      </p:sp>
    </p:spTree>
    <p:extLst>
      <p:ext uri="{BB962C8B-B14F-4D97-AF65-F5344CB8AC3E}">
        <p14:creationId xmlns:p14="http://schemas.microsoft.com/office/powerpoint/2010/main" val="15360425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8033400-F389-4FED-8A0E-6B972AFFF54C}"/>
              </a:ext>
            </a:extLst>
          </p:cNvPr>
          <p:cNvSpPr>
            <a:spLocks noGrp="1"/>
          </p:cNvSpPr>
          <p:nvPr/>
        </p:nvSpPr>
        <p:spPr>
          <a:xfrm>
            <a:off x="609600" y="476250"/>
            <a:ext cx="10668000" cy="666750"/>
          </a:xfrm>
          <a:prstGeom prst="rect">
            <a:avLst/>
          </a:prstGeom>
          <a:noFill/>
          <a:ln w="0">
            <a:noFill/>
          </a:ln>
        </p:spPr>
        <p:txBody>
          <a:bodyPr/>
          <a:lstStyle>
            <a:defPPr>
              <a:defRPr sz="3600" b="1">
                <a:solidFill>
                  <a:srgbClr val="26313B"/>
                </a:solidFill>
                <a:latin typeface="Arial"/>
                <a:ea typeface="Arial"/>
                <a:cs typeface="Arial"/>
              </a:defRPr>
            </a:defPPr>
          </a:lstStyle>
          <a:p>
            <a:pPr>
              <a:defRPr sz="3600" b="1">
                <a:solidFill>
                  <a:srgbClr val="26313B"/>
                </a:solidFill>
                <a:latin typeface="Arial"/>
                <a:ea typeface="Arial"/>
                <a:cs typeface="Arial"/>
              </a:defRPr>
            </a:pPr>
            <a:r>
              <a:rPr sz="3600" b="1">
                <a:solidFill>
                  <a:srgbClr val="26313B"/>
                </a:solidFill>
                <a:latin typeface="Arial"/>
                <a:ea typeface="Arial"/>
                <a:cs typeface="Arial"/>
              </a:rPr>
              <a:t>Circuit 4: AND / OR logic</a:t>
            </a:r>
          </a:p>
        </p:txBody>
      </p:sp>
      <p:sp>
        <p:nvSpPr>
          <p:cNvPr id="2" name="Rectangle 1">
            <a:extLst>
              <a:ext uri="{FF2B5EF4-FFF2-40B4-BE49-F238E27FC236}">
                <a16:creationId xmlns:a16="http://schemas.microsoft.com/office/drawing/2014/main" id="{F7A9EF42-78EE-4E49-927B-A86BB855CB26}"/>
              </a:ext>
            </a:extLst>
          </p:cNvPr>
          <p:cNvSpPr>
            <a:spLocks noGrp="1"/>
          </p:cNvSpPr>
          <p:nvPr/>
        </p:nvSpPr>
        <p:spPr>
          <a:xfrm>
            <a:off x="609600" y="1476375"/>
            <a:ext cx="7239000" cy="381000"/>
          </a:xfrm>
          <a:prstGeom prst="rect">
            <a:avLst/>
          </a:prstGeom>
          <a:noFill/>
          <a:ln w="0">
            <a:noFill/>
          </a:ln>
        </p:spPr>
        <p:txBody>
          <a:bodyPr/>
          <a:lstStyle>
            <a:defPPr>
              <a:defRPr sz="1875" b="1">
                <a:solidFill>
                  <a:srgbClr val="26313B"/>
                </a:solidFill>
                <a:latin typeface="Arial"/>
                <a:ea typeface="Arial"/>
                <a:cs typeface="Arial"/>
              </a:defRPr>
            </a:defPPr>
          </a:lstStyle>
          <a:p>
            <a:pPr>
              <a:defRPr sz="1875" b="1">
                <a:solidFill>
                  <a:srgbClr val="26313B"/>
                </a:solidFill>
                <a:latin typeface="Arial"/>
                <a:ea typeface="Arial"/>
                <a:cs typeface="Arial"/>
              </a:defRPr>
            </a:pPr>
            <a:r>
              <a:rPr sz="1875" b="1">
                <a:solidFill>
                  <a:srgbClr val="26313B"/>
                </a:solidFill>
                <a:latin typeface="Arial"/>
                <a:ea typeface="Arial"/>
                <a:cs typeface="Arial"/>
              </a:rPr>
              <a:t>Tinkercad</a:t>
            </a:r>
          </a:p>
        </p:txBody>
      </p:sp>
      <p:pic>
        <p:nvPicPr>
          <p:cNvPr id="3" name="Picture 2">
            <a:extLst>
              <a:ext uri="{FF2B5EF4-FFF2-40B4-BE49-F238E27FC236}">
                <a16:creationId xmlns:a16="http://schemas.microsoft.com/office/drawing/2014/main" id="{4407E7B7-13AC-469E-89F1-048AF2937AA5}"/>
              </a:ext>
            </a:extLst>
          </p:cNvPr>
          <p:cNvPicPr>
            <a:picLocks noChangeAspect="1"/>
          </p:cNvPicPr>
          <p:nvPr/>
        </p:nvPicPr>
        <p:blipFill>
          <a:blip r:embed="rId3"/>
          <a:stretch/>
        </p:blipFill>
        <p:spPr>
          <a:xfrm>
            <a:off x="1049482" y="1952625"/>
            <a:ext cx="9940636" cy="3905250"/>
          </a:xfrm>
          <a:prstGeom prst="rect">
            <a:avLst/>
          </a:prstGeom>
        </p:spPr>
      </p:pic>
      <p:sp>
        <p:nvSpPr>
          <p:cNvPr id="4" name="Rectangle 3">
            <a:extLst>
              <a:ext uri="{FF2B5EF4-FFF2-40B4-BE49-F238E27FC236}">
                <a16:creationId xmlns:a16="http://schemas.microsoft.com/office/drawing/2014/main" id="{8A84B0A6-506D-48A2-BBBF-6872160F5A18}"/>
              </a:ext>
            </a:extLst>
          </p:cNvPr>
          <p:cNvSpPr>
            <a:spLocks noGrp="1"/>
          </p:cNvSpPr>
          <p:nvPr/>
        </p:nvSpPr>
        <p:spPr>
          <a:xfrm>
            <a:off x="609600" y="5905500"/>
            <a:ext cx="10382250" cy="333375"/>
          </a:xfrm>
          <a:prstGeom prst="rect">
            <a:avLst/>
          </a:prstGeom>
          <a:noFill/>
          <a:ln w="0">
            <a:noFill/>
          </a:ln>
        </p:spPr>
        <p:txBody>
          <a:bodyPr/>
          <a:lstStyle>
            <a:defPPr>
              <a:defRPr sz="1875" b="0">
                <a:solidFill>
                  <a:srgbClr val="26313B"/>
                </a:solidFill>
                <a:latin typeface="Arial"/>
                <a:ea typeface="Arial"/>
                <a:cs typeface="Arial"/>
              </a:defRPr>
            </a:defPPr>
          </a:lstStyle>
          <a:p>
            <a:pPr>
              <a:defRPr sz="1875" b="0">
                <a:solidFill>
                  <a:srgbClr val="26313B"/>
                </a:solidFill>
                <a:latin typeface="Arial"/>
                <a:ea typeface="Arial"/>
                <a:cs typeface="Arial"/>
              </a:defRPr>
            </a:pPr>
            <a:r>
              <a:rPr sz="1875" b="0">
                <a:solidFill>
                  <a:srgbClr val="26313B"/>
                </a:solidFill>
                <a:latin typeface="Arial"/>
                <a:ea typeface="Arial"/>
                <a:cs typeface="Arial"/>
              </a:rPr>
              <a:t>Left: both buttons. Right: either button.</a:t>
            </a:r>
          </a:p>
        </p:txBody>
      </p:sp>
      <p:sp>
        <p:nvSpPr>
          <p:cNvPr id="5" name="Rectangle 4">
            <a:extLst>
              <a:ext uri="{FF2B5EF4-FFF2-40B4-BE49-F238E27FC236}">
                <a16:creationId xmlns:a16="http://schemas.microsoft.com/office/drawing/2014/main" id="{BC4A8546-C8E7-402D-ADC6-F20AA7D79869}"/>
              </a:ext>
            </a:extLst>
          </p:cNvPr>
          <p:cNvSpPr>
            <a:spLocks noGrp="1"/>
          </p:cNvSpPr>
          <p:nvPr/>
        </p:nvSpPr>
        <p:spPr>
          <a:xfrm>
            <a:off x="609600" y="6372225"/>
            <a:ext cx="8572500" cy="238125"/>
          </a:xfrm>
          <a:prstGeom prst="rect">
            <a:avLst/>
          </a:prstGeom>
          <a:noFill/>
          <a:ln w="0">
            <a:noFill/>
          </a:ln>
        </p:spPr>
        <p:txBody>
          <a:bodyPr/>
          <a:lstStyle>
            <a:defPPr>
              <a:defRPr sz="1500" b="0">
                <a:solidFill>
                  <a:srgbClr val="2366A6"/>
                </a:solidFill>
                <a:latin typeface="Arial"/>
                <a:ea typeface="Arial"/>
                <a:cs typeface="Arial"/>
              </a:defRPr>
            </a:defPPr>
          </a:lstStyle>
          <a:p>
            <a:pPr>
              <a:defRPr sz="1500" b="0">
                <a:solidFill>
                  <a:srgbClr val="2366A6"/>
                </a:solidFill>
                <a:latin typeface="Arial"/>
                <a:ea typeface="Arial"/>
                <a:cs typeface="Arial"/>
              </a:defRPr>
            </a:pPr>
            <a:r>
              <a:rPr sz="1500" b="0">
                <a:solidFill>
                  <a:srgbClr val="2366A6"/>
                </a:solidFill>
                <a:latin typeface="Arial"/>
                <a:ea typeface="Arial"/>
                <a:cs typeface="Arial"/>
                <a:hlinkClick r:id="rId4"/>
              </a:rPr>
              <a:t>Open circuit in Tinkercad</a:t>
            </a:r>
          </a:p>
        </p:txBody>
      </p:sp>
      <p:sp>
        <p:nvSpPr>
          <p:cNvPr id="6" name="Rectangle 5">
            <a:extLst>
              <a:ext uri="{FF2B5EF4-FFF2-40B4-BE49-F238E27FC236}">
                <a16:creationId xmlns:a16="http://schemas.microsoft.com/office/drawing/2014/main" id="{72100943-3209-4B08-8E60-03B5B75886EB}"/>
              </a:ext>
            </a:extLst>
          </p:cNvPr>
          <p:cNvSpPr>
            <a:spLocks noGrp="1"/>
          </p:cNvSpPr>
          <p:nvPr/>
        </p:nvSpPr>
        <p:spPr>
          <a:xfrm>
            <a:off x="11049000" y="6362700"/>
            <a:ext cx="533400" cy="228600"/>
          </a:xfrm>
          <a:prstGeom prst="rect">
            <a:avLst/>
          </a:prstGeom>
          <a:noFill/>
          <a:ln w="0">
            <a:noFill/>
          </a:ln>
        </p:spPr>
        <p:txBody>
          <a:bodyPr/>
          <a:lstStyle>
            <a:defPPr>
              <a:defRPr sz="1350" b="0">
                <a:solidFill>
                  <a:srgbClr val="73818C"/>
                </a:solidFill>
                <a:latin typeface="Arial"/>
                <a:ea typeface="Arial"/>
                <a:cs typeface="Arial"/>
              </a:defRPr>
            </a:defPPr>
          </a:lstStyle>
          <a:p>
            <a:pPr>
              <a:defRPr sz="1350" b="0">
                <a:solidFill>
                  <a:srgbClr val="73818C"/>
                </a:solidFill>
                <a:latin typeface="Arial"/>
                <a:ea typeface="Arial"/>
                <a:cs typeface="Arial"/>
              </a:defRPr>
            </a:pPr>
            <a:r>
              <a:rPr sz="1350" b="0">
                <a:solidFill>
                  <a:srgbClr val="73818C"/>
                </a:solidFill>
                <a:latin typeface="Arial"/>
                <a:ea typeface="Arial"/>
                <a:cs typeface="Arial"/>
              </a:rPr>
              <a:t>07</a:t>
            </a:r>
          </a:p>
        </p:txBody>
      </p:sp>
    </p:spTree>
    <p:extLst>
      <p:ext uri="{BB962C8B-B14F-4D97-AF65-F5344CB8AC3E}">
        <p14:creationId xmlns:p14="http://schemas.microsoft.com/office/powerpoint/2010/main" val="850756011"/>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964</Words>
  <Application>Microsoft Macintosh PowerPoint</Application>
  <DocSecurity>0</DocSecurity>
  <PresentationFormat>Widescreen</PresentationFormat>
  <Paragraphs>71</Paragraphs>
  <Slides>11</Slides>
  <Notes>11</Notes>
  <HiddenSlides>0</HiddenSlides>
  <MMClips>0</MMClips>
  <ScaleCrop>false</ScaleCrop>
  <HeadingPairs>
    <vt:vector size="6" baseType="variant">
      <vt:variant>
        <vt:lpstr>Fonts Used</vt:lpstr>
      </vt:variant>
      <vt:variant>
        <vt:i4>2</vt:i4>
      </vt:variant>
      <vt:variant>
        <vt:lpstr>Theme</vt:lpstr>
      </vt:variant>
      <vt:variant>
        <vt:i4>5</vt:i4>
      </vt:variant>
      <vt:variant>
        <vt:lpstr>Slide Titles</vt:lpstr>
      </vt:variant>
      <vt:variant>
        <vt:i4>11</vt:i4>
      </vt:variant>
    </vt:vector>
  </HeadingPairs>
  <TitlesOfParts>
    <vt:vector size="18" baseType="lpstr">
      <vt:lpstr>Aptos</vt:lpstr>
      <vt:lpstr>Arial</vt:lpstr>
      <vt:lpstr>ChatGPT</vt:lpstr>
      <vt:lpstr>Office Theme</vt:lpstr>
      <vt:lpstr>Office Theme</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Ayush Gupta</cp:lastModifiedBy>
  <cp:revision>1</cp:revision>
  <dcterms:created xsi:type="dcterms:W3CDTF">2026-10-14T14:36:26Z</dcterms:created>
  <dcterms:modified xsi:type="dcterms:W3CDTF">2026-10-14T14:41:06Z</dcterms:modified>
</cp:coreProperties>
</file>